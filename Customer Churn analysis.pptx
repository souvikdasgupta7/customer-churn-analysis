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 id="265" r:id="rId9"/>
    <p:sldId id="266" r:id="rId10"/>
    <p:sldId id="267" r:id="rId11"/>
    <p:sldId id="269" r:id="rId12"/>
    <p:sldId id="271" r:id="rId13"/>
    <p:sldId id="272" r:id="rId14"/>
    <p:sldId id="270" r:id="rId15"/>
    <p:sldId id="260" r:id="rId16"/>
    <p:sldId id="2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EEDB00-3F2E-4851-9532-F521ECE463BB}"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8C0A9C8D-C914-461B-B56A-577DED6F924E}">
      <dgm:prSet/>
      <dgm:spPr/>
      <dgm:t>
        <a:bodyPr/>
        <a:lstStyle/>
        <a:p>
          <a:r>
            <a:rPr lang="en-IN" b="1"/>
            <a:t>Customer churn is a major challenge for businesses, as losing customers directly impacts revenue and growth.</a:t>
          </a:r>
          <a:endParaRPr lang="en-US"/>
        </a:p>
      </dgm:t>
    </dgm:pt>
    <dgm:pt modelId="{C134B18A-E061-432F-8919-BE364A629571}" type="parTrans" cxnId="{2674C13F-B040-457D-BE15-A1CAC279141C}">
      <dgm:prSet/>
      <dgm:spPr/>
      <dgm:t>
        <a:bodyPr/>
        <a:lstStyle/>
        <a:p>
          <a:endParaRPr lang="en-US"/>
        </a:p>
      </dgm:t>
    </dgm:pt>
    <dgm:pt modelId="{BAA03B28-22DD-43EA-B7B8-8A2EA08F3D8A}" type="sibTrans" cxnId="{2674C13F-B040-457D-BE15-A1CAC279141C}">
      <dgm:prSet/>
      <dgm:spPr/>
      <dgm:t>
        <a:bodyPr/>
        <a:lstStyle/>
        <a:p>
          <a:endParaRPr lang="en-US"/>
        </a:p>
      </dgm:t>
    </dgm:pt>
    <dgm:pt modelId="{A4ADB40D-ABEF-4562-89D1-DA775E299357}">
      <dgm:prSet/>
      <dgm:spPr/>
      <dgm:t>
        <a:bodyPr/>
        <a:lstStyle/>
        <a:p>
          <a:r>
            <a:rPr lang="en-IN" b="1"/>
            <a:t>The company is experiencing a high churn rate and lacks clarity on:</a:t>
          </a:r>
          <a:endParaRPr lang="en-US"/>
        </a:p>
      </dgm:t>
    </dgm:pt>
    <dgm:pt modelId="{94E54B6B-C42E-416A-A413-BA645ED4F3DC}" type="parTrans" cxnId="{2D718F0F-E498-4117-92D8-0EE8C674F3B8}">
      <dgm:prSet/>
      <dgm:spPr/>
      <dgm:t>
        <a:bodyPr/>
        <a:lstStyle/>
        <a:p>
          <a:endParaRPr lang="en-US"/>
        </a:p>
      </dgm:t>
    </dgm:pt>
    <dgm:pt modelId="{49F5909B-E5EF-4D56-A675-67011B414E6D}" type="sibTrans" cxnId="{2D718F0F-E498-4117-92D8-0EE8C674F3B8}">
      <dgm:prSet/>
      <dgm:spPr/>
      <dgm:t>
        <a:bodyPr/>
        <a:lstStyle/>
        <a:p>
          <a:endParaRPr lang="en-US"/>
        </a:p>
      </dgm:t>
    </dgm:pt>
    <dgm:pt modelId="{7BA3FDCC-11B1-45DA-92E1-569651ED8F10}">
      <dgm:prSet/>
      <dgm:spPr/>
      <dgm:t>
        <a:bodyPr/>
        <a:lstStyle/>
        <a:p>
          <a:r>
            <a:rPr lang="en-IN" b="1"/>
            <a:t>Why customers are leaving </a:t>
          </a:r>
          <a:endParaRPr lang="en-US"/>
        </a:p>
      </dgm:t>
    </dgm:pt>
    <dgm:pt modelId="{D7F80598-0268-4473-88DE-32DEF3DDBCB2}" type="parTrans" cxnId="{1F9D9950-0DE4-4D08-8CF0-AB63F4003A86}">
      <dgm:prSet/>
      <dgm:spPr/>
      <dgm:t>
        <a:bodyPr/>
        <a:lstStyle/>
        <a:p>
          <a:endParaRPr lang="en-US"/>
        </a:p>
      </dgm:t>
    </dgm:pt>
    <dgm:pt modelId="{434EFC3F-0172-4398-8BEE-F5A48892B6B8}" type="sibTrans" cxnId="{1F9D9950-0DE4-4D08-8CF0-AB63F4003A86}">
      <dgm:prSet/>
      <dgm:spPr/>
      <dgm:t>
        <a:bodyPr/>
        <a:lstStyle/>
        <a:p>
          <a:endParaRPr lang="en-US"/>
        </a:p>
      </dgm:t>
    </dgm:pt>
    <dgm:pt modelId="{A983B52F-B791-4CC9-B1B2-D15781DA3520}">
      <dgm:prSet/>
      <dgm:spPr/>
      <dgm:t>
        <a:bodyPr/>
        <a:lstStyle/>
        <a:p>
          <a:r>
            <a:rPr lang="en-IN" b="1"/>
            <a:t>Which customer segments are most at risk </a:t>
          </a:r>
          <a:endParaRPr lang="en-US"/>
        </a:p>
      </dgm:t>
    </dgm:pt>
    <dgm:pt modelId="{68842651-07DB-4C2A-B03A-AD1FB88228DF}" type="parTrans" cxnId="{D02ABC47-377E-4F41-B4FF-9F66FB4C3101}">
      <dgm:prSet/>
      <dgm:spPr/>
      <dgm:t>
        <a:bodyPr/>
        <a:lstStyle/>
        <a:p>
          <a:endParaRPr lang="en-US"/>
        </a:p>
      </dgm:t>
    </dgm:pt>
    <dgm:pt modelId="{E125BF51-2AA5-4107-AE87-A3D66CA84F9E}" type="sibTrans" cxnId="{D02ABC47-377E-4F41-B4FF-9F66FB4C3101}">
      <dgm:prSet/>
      <dgm:spPr/>
      <dgm:t>
        <a:bodyPr/>
        <a:lstStyle/>
        <a:p>
          <a:endParaRPr lang="en-US"/>
        </a:p>
      </dgm:t>
    </dgm:pt>
    <dgm:pt modelId="{33264763-EC2A-4DA0-B385-A1FFC78D4863}">
      <dgm:prSet/>
      <dgm:spPr/>
      <dgm:t>
        <a:bodyPr/>
        <a:lstStyle/>
        <a:p>
          <a:r>
            <a:rPr lang="en-IN" b="1"/>
            <a:t>What services or features influence churn </a:t>
          </a:r>
          <a:endParaRPr lang="en-US"/>
        </a:p>
      </dgm:t>
    </dgm:pt>
    <dgm:pt modelId="{371B0EB5-0E4A-4BBA-A6D2-F4418B660793}" type="parTrans" cxnId="{31597ADF-9533-4C81-B614-4E1F7FB9AF2F}">
      <dgm:prSet/>
      <dgm:spPr/>
      <dgm:t>
        <a:bodyPr/>
        <a:lstStyle/>
        <a:p>
          <a:endParaRPr lang="en-US"/>
        </a:p>
      </dgm:t>
    </dgm:pt>
    <dgm:pt modelId="{E34C4EDF-9F76-4261-91CF-2F53B4AB4E76}" type="sibTrans" cxnId="{31597ADF-9533-4C81-B614-4E1F7FB9AF2F}">
      <dgm:prSet/>
      <dgm:spPr/>
      <dgm:t>
        <a:bodyPr/>
        <a:lstStyle/>
        <a:p>
          <a:endParaRPr lang="en-US"/>
        </a:p>
      </dgm:t>
    </dgm:pt>
    <dgm:pt modelId="{22BB0374-65E1-49AE-B355-846D93439EBF}">
      <dgm:prSet/>
      <dgm:spPr/>
      <dgm:t>
        <a:bodyPr/>
        <a:lstStyle/>
        <a:p>
          <a:r>
            <a:rPr lang="en-IN" b="1"/>
            <a:t>The objective is to analyse customer data and uncover insights that help reduce churn and improve retention.</a:t>
          </a:r>
          <a:endParaRPr lang="en-US"/>
        </a:p>
      </dgm:t>
    </dgm:pt>
    <dgm:pt modelId="{ACC0FC5D-2075-4ADB-A5DD-61517FCC8549}" type="parTrans" cxnId="{4FF69E10-E53F-4749-90C2-ED56930AF768}">
      <dgm:prSet/>
      <dgm:spPr/>
      <dgm:t>
        <a:bodyPr/>
        <a:lstStyle/>
        <a:p>
          <a:endParaRPr lang="en-US"/>
        </a:p>
      </dgm:t>
    </dgm:pt>
    <dgm:pt modelId="{D7445BE0-2655-4E5D-96B6-C2E7158B03F8}" type="sibTrans" cxnId="{4FF69E10-E53F-4749-90C2-ED56930AF768}">
      <dgm:prSet/>
      <dgm:spPr/>
      <dgm:t>
        <a:bodyPr/>
        <a:lstStyle/>
        <a:p>
          <a:endParaRPr lang="en-US"/>
        </a:p>
      </dgm:t>
    </dgm:pt>
    <dgm:pt modelId="{D5A9C0FA-216D-4660-AF28-E0B1D44D6E8A}" type="pres">
      <dgm:prSet presAssocID="{9CEEDB00-3F2E-4851-9532-F521ECE463BB}" presName="Name0" presStyleCnt="0">
        <dgm:presLayoutVars>
          <dgm:dir/>
          <dgm:resizeHandles val="exact"/>
        </dgm:presLayoutVars>
      </dgm:prSet>
      <dgm:spPr/>
    </dgm:pt>
    <dgm:pt modelId="{46A60533-71BA-4710-A93B-D13F209303C7}" type="pres">
      <dgm:prSet presAssocID="{8C0A9C8D-C914-461B-B56A-577DED6F924E}" presName="node" presStyleLbl="node1" presStyleIdx="0" presStyleCnt="6">
        <dgm:presLayoutVars>
          <dgm:bulletEnabled val="1"/>
        </dgm:presLayoutVars>
      </dgm:prSet>
      <dgm:spPr/>
    </dgm:pt>
    <dgm:pt modelId="{E6B467E7-A542-4EFF-BCC1-C07F0B374F73}" type="pres">
      <dgm:prSet presAssocID="{BAA03B28-22DD-43EA-B7B8-8A2EA08F3D8A}" presName="sibTrans" presStyleLbl="sibTrans1D1" presStyleIdx="0" presStyleCnt="5"/>
      <dgm:spPr/>
    </dgm:pt>
    <dgm:pt modelId="{A7208EE3-584A-4157-B52F-26F312B2141B}" type="pres">
      <dgm:prSet presAssocID="{BAA03B28-22DD-43EA-B7B8-8A2EA08F3D8A}" presName="connectorText" presStyleLbl="sibTrans1D1" presStyleIdx="0" presStyleCnt="5"/>
      <dgm:spPr/>
    </dgm:pt>
    <dgm:pt modelId="{91460D00-6301-41A7-9834-1F1B4FBBF140}" type="pres">
      <dgm:prSet presAssocID="{A4ADB40D-ABEF-4562-89D1-DA775E299357}" presName="node" presStyleLbl="node1" presStyleIdx="1" presStyleCnt="6">
        <dgm:presLayoutVars>
          <dgm:bulletEnabled val="1"/>
        </dgm:presLayoutVars>
      </dgm:prSet>
      <dgm:spPr/>
    </dgm:pt>
    <dgm:pt modelId="{4D4BF3FE-2018-4E73-A474-49314E930599}" type="pres">
      <dgm:prSet presAssocID="{49F5909B-E5EF-4D56-A675-67011B414E6D}" presName="sibTrans" presStyleLbl="sibTrans1D1" presStyleIdx="1" presStyleCnt="5"/>
      <dgm:spPr/>
    </dgm:pt>
    <dgm:pt modelId="{B6C449DF-2A70-4432-B0DF-32390BD1B289}" type="pres">
      <dgm:prSet presAssocID="{49F5909B-E5EF-4D56-A675-67011B414E6D}" presName="connectorText" presStyleLbl="sibTrans1D1" presStyleIdx="1" presStyleCnt="5"/>
      <dgm:spPr/>
    </dgm:pt>
    <dgm:pt modelId="{9B132393-0B3E-44AB-9077-B0E34D245CF5}" type="pres">
      <dgm:prSet presAssocID="{7BA3FDCC-11B1-45DA-92E1-569651ED8F10}" presName="node" presStyleLbl="node1" presStyleIdx="2" presStyleCnt="6">
        <dgm:presLayoutVars>
          <dgm:bulletEnabled val="1"/>
        </dgm:presLayoutVars>
      </dgm:prSet>
      <dgm:spPr/>
    </dgm:pt>
    <dgm:pt modelId="{E3D15F11-3545-4282-A671-3A996C38398C}" type="pres">
      <dgm:prSet presAssocID="{434EFC3F-0172-4398-8BEE-F5A48892B6B8}" presName="sibTrans" presStyleLbl="sibTrans1D1" presStyleIdx="2" presStyleCnt="5"/>
      <dgm:spPr/>
    </dgm:pt>
    <dgm:pt modelId="{46E7BBD8-58EA-4F08-B3A1-F33BD1B42DBA}" type="pres">
      <dgm:prSet presAssocID="{434EFC3F-0172-4398-8BEE-F5A48892B6B8}" presName="connectorText" presStyleLbl="sibTrans1D1" presStyleIdx="2" presStyleCnt="5"/>
      <dgm:spPr/>
    </dgm:pt>
    <dgm:pt modelId="{23D2B326-65A8-4BF8-B800-210034F140E5}" type="pres">
      <dgm:prSet presAssocID="{A983B52F-B791-4CC9-B1B2-D15781DA3520}" presName="node" presStyleLbl="node1" presStyleIdx="3" presStyleCnt="6">
        <dgm:presLayoutVars>
          <dgm:bulletEnabled val="1"/>
        </dgm:presLayoutVars>
      </dgm:prSet>
      <dgm:spPr/>
    </dgm:pt>
    <dgm:pt modelId="{4DA3FED5-2B51-465B-8B6B-A9ACDF42CD16}" type="pres">
      <dgm:prSet presAssocID="{E125BF51-2AA5-4107-AE87-A3D66CA84F9E}" presName="sibTrans" presStyleLbl="sibTrans1D1" presStyleIdx="3" presStyleCnt="5"/>
      <dgm:spPr/>
    </dgm:pt>
    <dgm:pt modelId="{CFB8D52C-430F-4BB9-A417-2B81A115856D}" type="pres">
      <dgm:prSet presAssocID="{E125BF51-2AA5-4107-AE87-A3D66CA84F9E}" presName="connectorText" presStyleLbl="sibTrans1D1" presStyleIdx="3" presStyleCnt="5"/>
      <dgm:spPr/>
    </dgm:pt>
    <dgm:pt modelId="{A7B1BE1C-968B-4457-B8DB-4F90F6C4865D}" type="pres">
      <dgm:prSet presAssocID="{33264763-EC2A-4DA0-B385-A1FFC78D4863}" presName="node" presStyleLbl="node1" presStyleIdx="4" presStyleCnt="6">
        <dgm:presLayoutVars>
          <dgm:bulletEnabled val="1"/>
        </dgm:presLayoutVars>
      </dgm:prSet>
      <dgm:spPr/>
    </dgm:pt>
    <dgm:pt modelId="{A06B41BC-4635-4F31-BE5D-A2E5455912AE}" type="pres">
      <dgm:prSet presAssocID="{E34C4EDF-9F76-4261-91CF-2F53B4AB4E76}" presName="sibTrans" presStyleLbl="sibTrans1D1" presStyleIdx="4" presStyleCnt="5"/>
      <dgm:spPr/>
    </dgm:pt>
    <dgm:pt modelId="{93878C8D-103B-4DE2-8D88-75FBDD4BBED8}" type="pres">
      <dgm:prSet presAssocID="{E34C4EDF-9F76-4261-91CF-2F53B4AB4E76}" presName="connectorText" presStyleLbl="sibTrans1D1" presStyleIdx="4" presStyleCnt="5"/>
      <dgm:spPr/>
    </dgm:pt>
    <dgm:pt modelId="{9D4B9E5F-E379-424E-8199-ADDB4697D118}" type="pres">
      <dgm:prSet presAssocID="{22BB0374-65E1-49AE-B355-846D93439EBF}" presName="node" presStyleLbl="node1" presStyleIdx="5" presStyleCnt="6">
        <dgm:presLayoutVars>
          <dgm:bulletEnabled val="1"/>
        </dgm:presLayoutVars>
      </dgm:prSet>
      <dgm:spPr/>
    </dgm:pt>
  </dgm:ptLst>
  <dgm:cxnLst>
    <dgm:cxn modelId="{2D718F0F-E498-4117-92D8-0EE8C674F3B8}" srcId="{9CEEDB00-3F2E-4851-9532-F521ECE463BB}" destId="{A4ADB40D-ABEF-4562-89D1-DA775E299357}" srcOrd="1" destOrd="0" parTransId="{94E54B6B-C42E-416A-A413-BA645ED4F3DC}" sibTransId="{49F5909B-E5EF-4D56-A675-67011B414E6D}"/>
    <dgm:cxn modelId="{4FF69E10-E53F-4749-90C2-ED56930AF768}" srcId="{9CEEDB00-3F2E-4851-9532-F521ECE463BB}" destId="{22BB0374-65E1-49AE-B355-846D93439EBF}" srcOrd="5" destOrd="0" parTransId="{ACC0FC5D-2075-4ADB-A5DD-61517FCC8549}" sibTransId="{D7445BE0-2655-4E5D-96B6-C2E7158B03F8}"/>
    <dgm:cxn modelId="{E2C41736-D156-491C-B14B-12734A631E9C}" type="presOf" srcId="{E125BF51-2AA5-4107-AE87-A3D66CA84F9E}" destId="{4DA3FED5-2B51-465B-8B6B-A9ACDF42CD16}" srcOrd="0" destOrd="0" presId="urn:microsoft.com/office/officeart/2016/7/layout/RepeatingBendingProcessNew"/>
    <dgm:cxn modelId="{2674C13F-B040-457D-BE15-A1CAC279141C}" srcId="{9CEEDB00-3F2E-4851-9532-F521ECE463BB}" destId="{8C0A9C8D-C914-461B-B56A-577DED6F924E}" srcOrd="0" destOrd="0" parTransId="{C134B18A-E061-432F-8919-BE364A629571}" sibTransId="{BAA03B28-22DD-43EA-B7B8-8A2EA08F3D8A}"/>
    <dgm:cxn modelId="{D02ABC47-377E-4F41-B4FF-9F66FB4C3101}" srcId="{9CEEDB00-3F2E-4851-9532-F521ECE463BB}" destId="{A983B52F-B791-4CC9-B1B2-D15781DA3520}" srcOrd="3" destOrd="0" parTransId="{68842651-07DB-4C2A-B03A-AD1FB88228DF}" sibTransId="{E125BF51-2AA5-4107-AE87-A3D66CA84F9E}"/>
    <dgm:cxn modelId="{126F146F-D3F0-4462-8A9E-88834E49A058}" type="presOf" srcId="{434EFC3F-0172-4398-8BEE-F5A48892B6B8}" destId="{E3D15F11-3545-4282-A671-3A996C38398C}" srcOrd="0" destOrd="0" presId="urn:microsoft.com/office/officeart/2016/7/layout/RepeatingBendingProcessNew"/>
    <dgm:cxn modelId="{C87AB44F-8B3F-4AC2-9014-9137EF14A1E3}" type="presOf" srcId="{33264763-EC2A-4DA0-B385-A1FFC78D4863}" destId="{A7B1BE1C-968B-4457-B8DB-4F90F6C4865D}" srcOrd="0" destOrd="0" presId="urn:microsoft.com/office/officeart/2016/7/layout/RepeatingBendingProcessNew"/>
    <dgm:cxn modelId="{1F9D9950-0DE4-4D08-8CF0-AB63F4003A86}" srcId="{9CEEDB00-3F2E-4851-9532-F521ECE463BB}" destId="{7BA3FDCC-11B1-45DA-92E1-569651ED8F10}" srcOrd="2" destOrd="0" parTransId="{D7F80598-0268-4473-88DE-32DEF3DDBCB2}" sibTransId="{434EFC3F-0172-4398-8BEE-F5A48892B6B8}"/>
    <dgm:cxn modelId="{48801F56-B2F2-4D09-BAF0-39BDA04C2E67}" type="presOf" srcId="{434EFC3F-0172-4398-8BEE-F5A48892B6B8}" destId="{46E7BBD8-58EA-4F08-B3A1-F33BD1B42DBA}" srcOrd="1" destOrd="0" presId="urn:microsoft.com/office/officeart/2016/7/layout/RepeatingBendingProcessNew"/>
    <dgm:cxn modelId="{93BC0F57-1E9C-4FD9-9AF4-E1F4C9D115D7}" type="presOf" srcId="{7BA3FDCC-11B1-45DA-92E1-569651ED8F10}" destId="{9B132393-0B3E-44AB-9077-B0E34D245CF5}" srcOrd="0" destOrd="0" presId="urn:microsoft.com/office/officeart/2016/7/layout/RepeatingBendingProcessNew"/>
    <dgm:cxn modelId="{1B173682-9261-4901-B3A7-5FDBD4C0B5AF}" type="presOf" srcId="{A983B52F-B791-4CC9-B1B2-D15781DA3520}" destId="{23D2B326-65A8-4BF8-B800-210034F140E5}" srcOrd="0" destOrd="0" presId="urn:microsoft.com/office/officeart/2016/7/layout/RepeatingBendingProcessNew"/>
    <dgm:cxn modelId="{D557F986-BB7C-41CF-A597-E3CE917CA4F9}" type="presOf" srcId="{BAA03B28-22DD-43EA-B7B8-8A2EA08F3D8A}" destId="{E6B467E7-A542-4EFF-BCC1-C07F0B374F73}" srcOrd="0" destOrd="0" presId="urn:microsoft.com/office/officeart/2016/7/layout/RepeatingBendingProcessNew"/>
    <dgm:cxn modelId="{8F327A88-02B9-491A-B20D-923113CBEA74}" type="presOf" srcId="{E34C4EDF-9F76-4261-91CF-2F53B4AB4E76}" destId="{A06B41BC-4635-4F31-BE5D-A2E5455912AE}" srcOrd="0" destOrd="0" presId="urn:microsoft.com/office/officeart/2016/7/layout/RepeatingBendingProcessNew"/>
    <dgm:cxn modelId="{4C515B91-A4CB-4FF9-BE62-2DFDAC8A0339}" type="presOf" srcId="{49F5909B-E5EF-4D56-A675-67011B414E6D}" destId="{4D4BF3FE-2018-4E73-A474-49314E930599}" srcOrd="0" destOrd="0" presId="urn:microsoft.com/office/officeart/2016/7/layout/RepeatingBendingProcessNew"/>
    <dgm:cxn modelId="{B32B0E92-7518-4BD5-9983-7F417554E2BD}" type="presOf" srcId="{8C0A9C8D-C914-461B-B56A-577DED6F924E}" destId="{46A60533-71BA-4710-A93B-D13F209303C7}" srcOrd="0" destOrd="0" presId="urn:microsoft.com/office/officeart/2016/7/layout/RepeatingBendingProcessNew"/>
    <dgm:cxn modelId="{255C37A2-5B26-49A3-9BFE-03FA8C1380CD}" type="presOf" srcId="{49F5909B-E5EF-4D56-A675-67011B414E6D}" destId="{B6C449DF-2A70-4432-B0DF-32390BD1B289}" srcOrd="1" destOrd="0" presId="urn:microsoft.com/office/officeart/2016/7/layout/RepeatingBendingProcessNew"/>
    <dgm:cxn modelId="{41AD93A2-007A-4DFB-B7B3-8426DCCF3F28}" type="presOf" srcId="{BAA03B28-22DD-43EA-B7B8-8A2EA08F3D8A}" destId="{A7208EE3-584A-4157-B52F-26F312B2141B}" srcOrd="1" destOrd="0" presId="urn:microsoft.com/office/officeart/2016/7/layout/RepeatingBendingProcessNew"/>
    <dgm:cxn modelId="{AC1285AF-A376-4E37-A81B-26FF2D16752B}" type="presOf" srcId="{22BB0374-65E1-49AE-B355-846D93439EBF}" destId="{9D4B9E5F-E379-424E-8199-ADDB4697D118}" srcOrd="0" destOrd="0" presId="urn:microsoft.com/office/officeart/2016/7/layout/RepeatingBendingProcessNew"/>
    <dgm:cxn modelId="{57A1FCBC-A1E3-4B7A-B56F-CA06725AED93}" type="presOf" srcId="{E34C4EDF-9F76-4261-91CF-2F53B4AB4E76}" destId="{93878C8D-103B-4DE2-8D88-75FBDD4BBED8}" srcOrd="1" destOrd="0" presId="urn:microsoft.com/office/officeart/2016/7/layout/RepeatingBendingProcessNew"/>
    <dgm:cxn modelId="{D21C42CF-BFF5-45D6-84D3-1B9B0868CA1B}" type="presOf" srcId="{9CEEDB00-3F2E-4851-9532-F521ECE463BB}" destId="{D5A9C0FA-216D-4660-AF28-E0B1D44D6E8A}" srcOrd="0" destOrd="0" presId="urn:microsoft.com/office/officeart/2016/7/layout/RepeatingBendingProcessNew"/>
    <dgm:cxn modelId="{31597ADF-9533-4C81-B614-4E1F7FB9AF2F}" srcId="{9CEEDB00-3F2E-4851-9532-F521ECE463BB}" destId="{33264763-EC2A-4DA0-B385-A1FFC78D4863}" srcOrd="4" destOrd="0" parTransId="{371B0EB5-0E4A-4BBA-A6D2-F4418B660793}" sibTransId="{E34C4EDF-9F76-4261-91CF-2F53B4AB4E76}"/>
    <dgm:cxn modelId="{EEA820F1-92B0-4486-BEB2-19A590352135}" type="presOf" srcId="{E125BF51-2AA5-4107-AE87-A3D66CA84F9E}" destId="{CFB8D52C-430F-4BB9-A417-2B81A115856D}" srcOrd="1" destOrd="0" presId="urn:microsoft.com/office/officeart/2016/7/layout/RepeatingBendingProcessNew"/>
    <dgm:cxn modelId="{ABBEECF4-72CF-4553-96BE-42FE189E0793}" type="presOf" srcId="{A4ADB40D-ABEF-4562-89D1-DA775E299357}" destId="{91460D00-6301-41A7-9834-1F1B4FBBF140}" srcOrd="0" destOrd="0" presId="urn:microsoft.com/office/officeart/2016/7/layout/RepeatingBendingProcessNew"/>
    <dgm:cxn modelId="{EC40A125-DEB4-4847-A769-F812913B9AC1}" type="presParOf" srcId="{D5A9C0FA-216D-4660-AF28-E0B1D44D6E8A}" destId="{46A60533-71BA-4710-A93B-D13F209303C7}" srcOrd="0" destOrd="0" presId="urn:microsoft.com/office/officeart/2016/7/layout/RepeatingBendingProcessNew"/>
    <dgm:cxn modelId="{ACC1B0F1-2ED3-4A61-8641-2529586A9C78}" type="presParOf" srcId="{D5A9C0FA-216D-4660-AF28-E0B1D44D6E8A}" destId="{E6B467E7-A542-4EFF-BCC1-C07F0B374F73}" srcOrd="1" destOrd="0" presId="urn:microsoft.com/office/officeart/2016/7/layout/RepeatingBendingProcessNew"/>
    <dgm:cxn modelId="{F585204C-0DD7-4751-AA89-AB79A6EF1C86}" type="presParOf" srcId="{E6B467E7-A542-4EFF-BCC1-C07F0B374F73}" destId="{A7208EE3-584A-4157-B52F-26F312B2141B}" srcOrd="0" destOrd="0" presId="urn:microsoft.com/office/officeart/2016/7/layout/RepeatingBendingProcessNew"/>
    <dgm:cxn modelId="{A293E714-4B86-44D0-8CAC-22F2E6F466CE}" type="presParOf" srcId="{D5A9C0FA-216D-4660-AF28-E0B1D44D6E8A}" destId="{91460D00-6301-41A7-9834-1F1B4FBBF140}" srcOrd="2" destOrd="0" presId="urn:microsoft.com/office/officeart/2016/7/layout/RepeatingBendingProcessNew"/>
    <dgm:cxn modelId="{AAD75E2A-782C-46D3-99F9-BC62E3C11BB6}" type="presParOf" srcId="{D5A9C0FA-216D-4660-AF28-E0B1D44D6E8A}" destId="{4D4BF3FE-2018-4E73-A474-49314E930599}" srcOrd="3" destOrd="0" presId="urn:microsoft.com/office/officeart/2016/7/layout/RepeatingBendingProcessNew"/>
    <dgm:cxn modelId="{B28F89EE-49A8-4566-84A1-41BAE7AA08CA}" type="presParOf" srcId="{4D4BF3FE-2018-4E73-A474-49314E930599}" destId="{B6C449DF-2A70-4432-B0DF-32390BD1B289}" srcOrd="0" destOrd="0" presId="urn:microsoft.com/office/officeart/2016/7/layout/RepeatingBendingProcessNew"/>
    <dgm:cxn modelId="{B3C7D746-C013-4974-81D2-6EF7157114B8}" type="presParOf" srcId="{D5A9C0FA-216D-4660-AF28-E0B1D44D6E8A}" destId="{9B132393-0B3E-44AB-9077-B0E34D245CF5}" srcOrd="4" destOrd="0" presId="urn:microsoft.com/office/officeart/2016/7/layout/RepeatingBendingProcessNew"/>
    <dgm:cxn modelId="{B1B06870-399B-47E2-A192-D9EEC900601B}" type="presParOf" srcId="{D5A9C0FA-216D-4660-AF28-E0B1D44D6E8A}" destId="{E3D15F11-3545-4282-A671-3A996C38398C}" srcOrd="5" destOrd="0" presId="urn:microsoft.com/office/officeart/2016/7/layout/RepeatingBendingProcessNew"/>
    <dgm:cxn modelId="{A15E135B-960C-4404-B5B8-7EC9C7F37807}" type="presParOf" srcId="{E3D15F11-3545-4282-A671-3A996C38398C}" destId="{46E7BBD8-58EA-4F08-B3A1-F33BD1B42DBA}" srcOrd="0" destOrd="0" presId="urn:microsoft.com/office/officeart/2016/7/layout/RepeatingBendingProcessNew"/>
    <dgm:cxn modelId="{94888F0C-4340-40B1-90FA-541754D3F237}" type="presParOf" srcId="{D5A9C0FA-216D-4660-AF28-E0B1D44D6E8A}" destId="{23D2B326-65A8-4BF8-B800-210034F140E5}" srcOrd="6" destOrd="0" presId="urn:microsoft.com/office/officeart/2016/7/layout/RepeatingBendingProcessNew"/>
    <dgm:cxn modelId="{ACFB76D9-027A-4946-BC4D-E54BEC2D6F2B}" type="presParOf" srcId="{D5A9C0FA-216D-4660-AF28-E0B1D44D6E8A}" destId="{4DA3FED5-2B51-465B-8B6B-A9ACDF42CD16}" srcOrd="7" destOrd="0" presId="urn:microsoft.com/office/officeart/2016/7/layout/RepeatingBendingProcessNew"/>
    <dgm:cxn modelId="{00689A46-6460-4A10-A958-FE066C6FCBD7}" type="presParOf" srcId="{4DA3FED5-2B51-465B-8B6B-A9ACDF42CD16}" destId="{CFB8D52C-430F-4BB9-A417-2B81A115856D}" srcOrd="0" destOrd="0" presId="urn:microsoft.com/office/officeart/2016/7/layout/RepeatingBendingProcessNew"/>
    <dgm:cxn modelId="{F107C36A-961F-43E2-AE36-74B390108A25}" type="presParOf" srcId="{D5A9C0FA-216D-4660-AF28-E0B1D44D6E8A}" destId="{A7B1BE1C-968B-4457-B8DB-4F90F6C4865D}" srcOrd="8" destOrd="0" presId="urn:microsoft.com/office/officeart/2016/7/layout/RepeatingBendingProcessNew"/>
    <dgm:cxn modelId="{1646ADA1-F59F-4F31-80E8-961E7A191D98}" type="presParOf" srcId="{D5A9C0FA-216D-4660-AF28-E0B1D44D6E8A}" destId="{A06B41BC-4635-4F31-BE5D-A2E5455912AE}" srcOrd="9" destOrd="0" presId="urn:microsoft.com/office/officeart/2016/7/layout/RepeatingBendingProcessNew"/>
    <dgm:cxn modelId="{5509B61D-F320-421D-A953-8347816612CC}" type="presParOf" srcId="{A06B41BC-4635-4F31-BE5D-A2E5455912AE}" destId="{93878C8D-103B-4DE2-8D88-75FBDD4BBED8}" srcOrd="0" destOrd="0" presId="urn:microsoft.com/office/officeart/2016/7/layout/RepeatingBendingProcessNew"/>
    <dgm:cxn modelId="{ED2EC4BC-1051-42FA-91F2-969F8BE40DD9}" type="presParOf" srcId="{D5A9C0FA-216D-4660-AF28-E0B1D44D6E8A}" destId="{9D4B9E5F-E379-424E-8199-ADDB4697D118}"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467E7-A542-4EFF-BCC1-C07F0B374F73}">
      <dsp:nvSpPr>
        <dsp:cNvPr id="0" name=""/>
        <dsp:cNvSpPr/>
      </dsp:nvSpPr>
      <dsp:spPr>
        <a:xfrm>
          <a:off x="2504504" y="535496"/>
          <a:ext cx="411236" cy="91440"/>
        </a:xfrm>
        <a:custGeom>
          <a:avLst/>
          <a:gdLst/>
          <a:ahLst/>
          <a:cxnLst/>
          <a:rect l="0" t="0" r="0" b="0"/>
          <a:pathLst>
            <a:path>
              <a:moveTo>
                <a:pt x="0" y="45720"/>
              </a:moveTo>
              <a:lnTo>
                <a:pt x="41123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99076" y="579005"/>
        <a:ext cx="22091" cy="4422"/>
      </dsp:txXfrm>
    </dsp:sp>
    <dsp:sp modelId="{46A60533-71BA-4710-A93B-D13F209303C7}">
      <dsp:nvSpPr>
        <dsp:cNvPr id="0" name=""/>
        <dsp:cNvSpPr/>
      </dsp:nvSpPr>
      <dsp:spPr>
        <a:xfrm>
          <a:off x="585277" y="4908"/>
          <a:ext cx="1921027" cy="11526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IN" sz="1200" b="1" kern="1200"/>
            <a:t>Customer churn is a major challenge for businesses, as losing customers directly impacts revenue and growth.</a:t>
          </a:r>
          <a:endParaRPr lang="en-US" sz="1200" kern="1200"/>
        </a:p>
      </dsp:txBody>
      <dsp:txXfrm>
        <a:off x="585277" y="4908"/>
        <a:ext cx="1921027" cy="1152616"/>
      </dsp:txXfrm>
    </dsp:sp>
    <dsp:sp modelId="{4D4BF3FE-2018-4E73-A474-49314E930599}">
      <dsp:nvSpPr>
        <dsp:cNvPr id="0" name=""/>
        <dsp:cNvSpPr/>
      </dsp:nvSpPr>
      <dsp:spPr>
        <a:xfrm>
          <a:off x="1545790" y="1155724"/>
          <a:ext cx="2362863" cy="411236"/>
        </a:xfrm>
        <a:custGeom>
          <a:avLst/>
          <a:gdLst/>
          <a:ahLst/>
          <a:cxnLst/>
          <a:rect l="0" t="0" r="0" b="0"/>
          <a:pathLst>
            <a:path>
              <a:moveTo>
                <a:pt x="2362863" y="0"/>
              </a:moveTo>
              <a:lnTo>
                <a:pt x="2362863" y="222718"/>
              </a:lnTo>
              <a:lnTo>
                <a:pt x="0" y="222718"/>
              </a:lnTo>
              <a:lnTo>
                <a:pt x="0" y="411236"/>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7127" y="1359131"/>
        <a:ext cx="120190" cy="4422"/>
      </dsp:txXfrm>
    </dsp:sp>
    <dsp:sp modelId="{91460D00-6301-41A7-9834-1F1B4FBBF140}">
      <dsp:nvSpPr>
        <dsp:cNvPr id="0" name=""/>
        <dsp:cNvSpPr/>
      </dsp:nvSpPr>
      <dsp:spPr>
        <a:xfrm>
          <a:off x="2948140" y="4908"/>
          <a:ext cx="1921027" cy="11526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IN" sz="1200" b="1" kern="1200"/>
            <a:t>The company is experiencing a high churn rate and lacks clarity on:</a:t>
          </a:r>
          <a:endParaRPr lang="en-US" sz="1200" kern="1200"/>
        </a:p>
      </dsp:txBody>
      <dsp:txXfrm>
        <a:off x="2948140" y="4908"/>
        <a:ext cx="1921027" cy="1152616"/>
      </dsp:txXfrm>
    </dsp:sp>
    <dsp:sp modelId="{E3D15F11-3545-4282-A671-3A996C38398C}">
      <dsp:nvSpPr>
        <dsp:cNvPr id="0" name=""/>
        <dsp:cNvSpPr/>
      </dsp:nvSpPr>
      <dsp:spPr>
        <a:xfrm>
          <a:off x="2504504" y="2129948"/>
          <a:ext cx="411236" cy="91440"/>
        </a:xfrm>
        <a:custGeom>
          <a:avLst/>
          <a:gdLst/>
          <a:ahLst/>
          <a:cxnLst/>
          <a:rect l="0" t="0" r="0" b="0"/>
          <a:pathLst>
            <a:path>
              <a:moveTo>
                <a:pt x="0" y="45720"/>
              </a:moveTo>
              <a:lnTo>
                <a:pt x="41123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99076" y="2173457"/>
        <a:ext cx="22091" cy="4422"/>
      </dsp:txXfrm>
    </dsp:sp>
    <dsp:sp modelId="{9B132393-0B3E-44AB-9077-B0E34D245CF5}">
      <dsp:nvSpPr>
        <dsp:cNvPr id="0" name=""/>
        <dsp:cNvSpPr/>
      </dsp:nvSpPr>
      <dsp:spPr>
        <a:xfrm>
          <a:off x="585277" y="1599360"/>
          <a:ext cx="1921027" cy="11526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IN" sz="1200" b="1" kern="1200"/>
            <a:t>Why customers are leaving </a:t>
          </a:r>
          <a:endParaRPr lang="en-US" sz="1200" kern="1200"/>
        </a:p>
      </dsp:txBody>
      <dsp:txXfrm>
        <a:off x="585277" y="1599360"/>
        <a:ext cx="1921027" cy="1152616"/>
      </dsp:txXfrm>
    </dsp:sp>
    <dsp:sp modelId="{4DA3FED5-2B51-465B-8B6B-A9ACDF42CD16}">
      <dsp:nvSpPr>
        <dsp:cNvPr id="0" name=""/>
        <dsp:cNvSpPr/>
      </dsp:nvSpPr>
      <dsp:spPr>
        <a:xfrm>
          <a:off x="1545790" y="2750177"/>
          <a:ext cx="2362863" cy="411236"/>
        </a:xfrm>
        <a:custGeom>
          <a:avLst/>
          <a:gdLst/>
          <a:ahLst/>
          <a:cxnLst/>
          <a:rect l="0" t="0" r="0" b="0"/>
          <a:pathLst>
            <a:path>
              <a:moveTo>
                <a:pt x="2362863" y="0"/>
              </a:moveTo>
              <a:lnTo>
                <a:pt x="2362863" y="222718"/>
              </a:lnTo>
              <a:lnTo>
                <a:pt x="0" y="222718"/>
              </a:lnTo>
              <a:lnTo>
                <a:pt x="0" y="411236"/>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7127" y="2953583"/>
        <a:ext cx="120190" cy="4422"/>
      </dsp:txXfrm>
    </dsp:sp>
    <dsp:sp modelId="{23D2B326-65A8-4BF8-B800-210034F140E5}">
      <dsp:nvSpPr>
        <dsp:cNvPr id="0" name=""/>
        <dsp:cNvSpPr/>
      </dsp:nvSpPr>
      <dsp:spPr>
        <a:xfrm>
          <a:off x="2948140" y="1599360"/>
          <a:ext cx="1921027" cy="11526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IN" sz="1200" b="1" kern="1200"/>
            <a:t>Which customer segments are most at risk </a:t>
          </a:r>
          <a:endParaRPr lang="en-US" sz="1200" kern="1200"/>
        </a:p>
      </dsp:txBody>
      <dsp:txXfrm>
        <a:off x="2948140" y="1599360"/>
        <a:ext cx="1921027" cy="1152616"/>
      </dsp:txXfrm>
    </dsp:sp>
    <dsp:sp modelId="{A06B41BC-4635-4F31-BE5D-A2E5455912AE}">
      <dsp:nvSpPr>
        <dsp:cNvPr id="0" name=""/>
        <dsp:cNvSpPr/>
      </dsp:nvSpPr>
      <dsp:spPr>
        <a:xfrm>
          <a:off x="2504504" y="3724401"/>
          <a:ext cx="411236" cy="91440"/>
        </a:xfrm>
        <a:custGeom>
          <a:avLst/>
          <a:gdLst/>
          <a:ahLst/>
          <a:cxnLst/>
          <a:rect l="0" t="0" r="0" b="0"/>
          <a:pathLst>
            <a:path>
              <a:moveTo>
                <a:pt x="0" y="45720"/>
              </a:moveTo>
              <a:lnTo>
                <a:pt x="41123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99076" y="3767910"/>
        <a:ext cx="22091" cy="4422"/>
      </dsp:txXfrm>
    </dsp:sp>
    <dsp:sp modelId="{A7B1BE1C-968B-4457-B8DB-4F90F6C4865D}">
      <dsp:nvSpPr>
        <dsp:cNvPr id="0" name=""/>
        <dsp:cNvSpPr/>
      </dsp:nvSpPr>
      <dsp:spPr>
        <a:xfrm>
          <a:off x="585277" y="3193813"/>
          <a:ext cx="1921027" cy="11526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IN" sz="1200" b="1" kern="1200"/>
            <a:t>What services or features influence churn </a:t>
          </a:r>
          <a:endParaRPr lang="en-US" sz="1200" kern="1200"/>
        </a:p>
      </dsp:txBody>
      <dsp:txXfrm>
        <a:off x="585277" y="3193813"/>
        <a:ext cx="1921027" cy="1152616"/>
      </dsp:txXfrm>
    </dsp:sp>
    <dsp:sp modelId="{9D4B9E5F-E379-424E-8199-ADDB4697D118}">
      <dsp:nvSpPr>
        <dsp:cNvPr id="0" name=""/>
        <dsp:cNvSpPr/>
      </dsp:nvSpPr>
      <dsp:spPr>
        <a:xfrm>
          <a:off x="2948140" y="3193813"/>
          <a:ext cx="1921027" cy="11526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IN" sz="1200" b="1" kern="1200"/>
            <a:t>The objective is to analyse customer data and uncover insights that help reduce churn and improve retention.</a:t>
          </a:r>
          <a:endParaRPr lang="en-US" sz="1200" kern="1200"/>
        </a:p>
      </dsp:txBody>
      <dsp:txXfrm>
        <a:off x="2948140" y="3193813"/>
        <a:ext cx="1921027" cy="115261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19BD8-CFCF-5A0C-1FFE-203A65D97B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21F8DC6-F738-50D0-5541-CFCECC007C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5732A33-388E-C8FC-7B90-F8E7D8619A39}"/>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5" name="Footer Placeholder 4">
            <a:extLst>
              <a:ext uri="{FF2B5EF4-FFF2-40B4-BE49-F238E27FC236}">
                <a16:creationId xmlns:a16="http://schemas.microsoft.com/office/drawing/2014/main" id="{75747AC5-7C42-16E4-0202-E409B1EEC5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25916F-C545-8D49-D4F9-7F5598F047F9}"/>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3730918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B719D-B20E-803F-2B17-6317C352C1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3AB041-1B33-7B06-C2CB-21DF433033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748882-7AD2-69D0-7903-5EB3CBF4090A}"/>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5" name="Footer Placeholder 4">
            <a:extLst>
              <a:ext uri="{FF2B5EF4-FFF2-40B4-BE49-F238E27FC236}">
                <a16:creationId xmlns:a16="http://schemas.microsoft.com/office/drawing/2014/main" id="{618BEF2A-1B5D-1F63-A981-C412D86E4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3649F5-A72B-C7D5-1E65-A8E283D2326B}"/>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673787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FD466-7CB4-0BBB-1C1F-01C6F5D015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FB624B-5425-E32C-4FBE-FF21EDB8D8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DE94F3-046C-7206-8F95-B43B9931D948}"/>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5" name="Footer Placeholder 4">
            <a:extLst>
              <a:ext uri="{FF2B5EF4-FFF2-40B4-BE49-F238E27FC236}">
                <a16:creationId xmlns:a16="http://schemas.microsoft.com/office/drawing/2014/main" id="{20F96825-4CC6-311D-82B3-4EB43A369B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E0C52D-50BA-12F1-7B90-069586008DC9}"/>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1892190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6959-CE66-4B80-5721-477C547D46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555E12-D5F6-272D-5B10-6E98ABD1B5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96AFE7-DFA7-A16D-86D5-F6BC6B45C2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57EB01-AD10-07D9-B529-260CBF24A625}"/>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6" name="Footer Placeholder 5">
            <a:extLst>
              <a:ext uri="{FF2B5EF4-FFF2-40B4-BE49-F238E27FC236}">
                <a16:creationId xmlns:a16="http://schemas.microsoft.com/office/drawing/2014/main" id="{B1302D77-012E-AB7A-71AD-72347AB23D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969408-90A6-9112-DC10-29021C4D44BE}"/>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794725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1509D-03FA-EA9E-F95C-3D1520C7A26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EB914B-5DB4-C4F4-F60F-20E568C4C6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2A7DC4-06C5-AB1E-A8EE-8FA2A379C0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9AA1F10-745B-E75A-83DA-19253BDA1E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1BBEBA-C214-DA8E-9F74-3F5666BA33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259268-B198-601F-953D-2452275F9F88}"/>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8" name="Footer Placeholder 7">
            <a:extLst>
              <a:ext uri="{FF2B5EF4-FFF2-40B4-BE49-F238E27FC236}">
                <a16:creationId xmlns:a16="http://schemas.microsoft.com/office/drawing/2014/main" id="{60364390-18AC-F09E-A219-2B1304F792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C72A690-4BA8-481D-61BF-CD7CAE788EF9}"/>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3215932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3F79F-8F4E-D008-9BEF-36F9A9AE83C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D4FE8D-D9B6-ABA4-804F-50B83B253082}"/>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4" name="Footer Placeholder 3">
            <a:extLst>
              <a:ext uri="{FF2B5EF4-FFF2-40B4-BE49-F238E27FC236}">
                <a16:creationId xmlns:a16="http://schemas.microsoft.com/office/drawing/2014/main" id="{5000601D-58D0-C400-BFD4-0C11B09382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7782E3-8803-AA10-727E-44E606D900E3}"/>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2089181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B22766-7E9C-6095-3522-5F1710463C9E}"/>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3" name="Footer Placeholder 2">
            <a:extLst>
              <a:ext uri="{FF2B5EF4-FFF2-40B4-BE49-F238E27FC236}">
                <a16:creationId xmlns:a16="http://schemas.microsoft.com/office/drawing/2014/main" id="{49659BE2-4226-8351-B1B6-2D31B728FE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761C7C-A6C7-08BE-4DB1-FC9291581954}"/>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3971209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A93E4-34FD-D003-9C0F-2E592F1C30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B569EE-42D1-4810-A3F2-B0CFE5208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C04269-5B7C-4856-B8C5-13EBEB6ECA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C1531B-FB47-47E2-6A42-2C9839C6CE6E}"/>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6" name="Footer Placeholder 5">
            <a:extLst>
              <a:ext uri="{FF2B5EF4-FFF2-40B4-BE49-F238E27FC236}">
                <a16:creationId xmlns:a16="http://schemas.microsoft.com/office/drawing/2014/main" id="{6997CF54-F993-CF02-846C-1DB60DE3B9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9A07AC-9728-14F4-E862-9B5B3605884B}"/>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3167036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A9FB8-9160-2602-F527-B2CF6B1E74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4A3628-D745-0B0F-CEAE-390918D58F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EEB7DD-473F-98B2-C4F0-754F463042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2D4F35-5AC9-2302-9DA1-A9753E83FA33}"/>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6" name="Footer Placeholder 5">
            <a:extLst>
              <a:ext uri="{FF2B5EF4-FFF2-40B4-BE49-F238E27FC236}">
                <a16:creationId xmlns:a16="http://schemas.microsoft.com/office/drawing/2014/main" id="{108EFCC8-E0CD-232E-681B-005CC921B2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FF361D-E431-6CB4-C150-856C4255D156}"/>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2988808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D1635-0BBE-9F49-3C1C-6010483AFC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0FAFB0-C992-5A9A-83A8-969350815F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6F2ED5-C24B-2B36-1CED-E93B94DD0A99}"/>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5" name="Footer Placeholder 4">
            <a:extLst>
              <a:ext uri="{FF2B5EF4-FFF2-40B4-BE49-F238E27FC236}">
                <a16:creationId xmlns:a16="http://schemas.microsoft.com/office/drawing/2014/main" id="{2D67590C-D222-E8B1-945A-87624B7FB1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9E8F6B-CA4D-19FE-28C6-D65031A0D7B0}"/>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930311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2F6DCC-F369-8A53-AA7A-554BEE63D7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29BC2D-F1F7-7CFC-B51E-720C9175EB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3E4A5E-44D3-87D3-489B-B1F267AE036B}"/>
              </a:ext>
            </a:extLst>
          </p:cNvPr>
          <p:cNvSpPr>
            <a:spLocks noGrp="1"/>
          </p:cNvSpPr>
          <p:nvPr>
            <p:ph type="dt" sz="half" idx="10"/>
          </p:nvPr>
        </p:nvSpPr>
        <p:spPr/>
        <p:txBody>
          <a:bodyPr/>
          <a:lstStyle/>
          <a:p>
            <a:fld id="{C7323867-7CEB-4EEA-AE08-3C5B9B5D7CCD}" type="datetimeFigureOut">
              <a:rPr lang="en-IN" smtClean="0"/>
              <a:t>11-04-2026</a:t>
            </a:fld>
            <a:endParaRPr lang="en-IN"/>
          </a:p>
        </p:txBody>
      </p:sp>
      <p:sp>
        <p:nvSpPr>
          <p:cNvPr id="5" name="Footer Placeholder 4">
            <a:extLst>
              <a:ext uri="{FF2B5EF4-FFF2-40B4-BE49-F238E27FC236}">
                <a16:creationId xmlns:a16="http://schemas.microsoft.com/office/drawing/2014/main" id="{964D7FDA-B0B1-63A7-4BE2-9CE1160C85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4F66B6-6ED1-8D8C-7A0A-714FC110AA27}"/>
              </a:ext>
            </a:extLst>
          </p:cNvPr>
          <p:cNvSpPr>
            <a:spLocks noGrp="1"/>
          </p:cNvSpPr>
          <p:nvPr>
            <p:ph type="sldNum" sz="quarter" idx="12"/>
          </p:nvPr>
        </p:nvSpPr>
        <p:spPr/>
        <p:txBody>
          <a:bodyPr/>
          <a:lstStyle/>
          <a:p>
            <a:fld id="{BC34209D-851B-4E4B-AB95-9939DF922127}" type="slidenum">
              <a:rPr lang="en-IN" smtClean="0"/>
              <a:t>‹#›</a:t>
            </a:fld>
            <a:endParaRPr lang="en-IN"/>
          </a:p>
        </p:txBody>
      </p:sp>
    </p:spTree>
    <p:extLst>
      <p:ext uri="{BB962C8B-B14F-4D97-AF65-F5344CB8AC3E}">
        <p14:creationId xmlns:p14="http://schemas.microsoft.com/office/powerpoint/2010/main" val="3115429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5B6CE5-AA0B-0636-DA7E-9799E5406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56B0B1-BB5E-D921-C7A0-46F37D9661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5260D0-C929-814D-5BAB-1E0B83C948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323867-7CEB-4EEA-AE08-3C5B9B5D7CCD}" type="datetimeFigureOut">
              <a:rPr lang="en-IN" smtClean="0"/>
              <a:t>11-04-2026</a:t>
            </a:fld>
            <a:endParaRPr lang="en-IN"/>
          </a:p>
        </p:txBody>
      </p:sp>
      <p:sp>
        <p:nvSpPr>
          <p:cNvPr id="5" name="Footer Placeholder 4">
            <a:extLst>
              <a:ext uri="{FF2B5EF4-FFF2-40B4-BE49-F238E27FC236}">
                <a16:creationId xmlns:a16="http://schemas.microsoft.com/office/drawing/2014/main" id="{6C42EB9B-A912-BE94-C72F-4EDF0197B1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3C3A7BF-9C15-16A7-D8BC-7B1786A51D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34209D-851B-4E4B-AB95-9939DF922127}" type="slidenum">
              <a:rPr lang="en-IN" smtClean="0"/>
              <a:t>‹#›</a:t>
            </a:fld>
            <a:endParaRPr lang="en-IN"/>
          </a:p>
        </p:txBody>
      </p:sp>
    </p:spTree>
    <p:extLst>
      <p:ext uri="{BB962C8B-B14F-4D97-AF65-F5344CB8AC3E}">
        <p14:creationId xmlns:p14="http://schemas.microsoft.com/office/powerpoint/2010/main" val="2862509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F9C7DF90-AAA6-5305-C192-02BDF7180916}"/>
              </a:ext>
            </a:extLst>
          </p:cNvPr>
          <p:cNvSpPr>
            <a:spLocks noGrp="1"/>
          </p:cNvSpPr>
          <p:nvPr>
            <p:ph type="subTitle" idx="1"/>
          </p:nvPr>
        </p:nvSpPr>
        <p:spPr>
          <a:xfrm>
            <a:off x="2426447" y="6019391"/>
            <a:ext cx="7315199" cy="365125"/>
          </a:xfrm>
        </p:spPr>
        <p:txBody>
          <a:bodyPr anchor="t">
            <a:normAutofit/>
          </a:bodyPr>
          <a:lstStyle/>
          <a:p>
            <a:r>
              <a:rPr lang="en-IN" sz="1600" dirty="0">
                <a:solidFill>
                  <a:schemeClr val="tx1">
                    <a:lumMod val="85000"/>
                    <a:lumOff val="15000"/>
                  </a:schemeClr>
                </a:solidFill>
              </a:rPr>
              <a:t>Submitted </a:t>
            </a:r>
            <a:r>
              <a:rPr lang="en-IN" sz="1600">
                <a:solidFill>
                  <a:schemeClr val="tx1">
                    <a:lumMod val="85000"/>
                    <a:lumOff val="15000"/>
                  </a:schemeClr>
                </a:solidFill>
              </a:rPr>
              <a:t>by :</a:t>
            </a:r>
            <a:endParaRPr lang="en-IN" sz="1600" dirty="0">
              <a:solidFill>
                <a:schemeClr val="tx1">
                  <a:lumMod val="85000"/>
                  <a:lumOff val="15000"/>
                </a:schemeClr>
              </a:solidFill>
            </a:endParaRPr>
          </a:p>
        </p:txBody>
      </p:sp>
      <p:pic>
        <p:nvPicPr>
          <p:cNvPr id="5" name="Picture 4">
            <a:extLst>
              <a:ext uri="{FF2B5EF4-FFF2-40B4-BE49-F238E27FC236}">
                <a16:creationId xmlns:a16="http://schemas.microsoft.com/office/drawing/2014/main" id="{4D5030E1-974A-17C0-BDF9-C6B6790BC091}"/>
              </a:ext>
            </a:extLst>
          </p:cNvPr>
          <p:cNvPicPr>
            <a:picLocks noChangeAspect="1"/>
          </p:cNvPicPr>
          <p:nvPr/>
        </p:nvPicPr>
        <p:blipFill>
          <a:blip r:embed="rId2">
            <a:extLst>
              <a:ext uri="{28A0092B-C50C-407E-A947-70E740481C1C}">
                <a14:useLocalDpi xmlns:a14="http://schemas.microsoft.com/office/drawing/2010/main" val="0"/>
              </a:ext>
            </a:extLst>
          </a:blip>
          <a:srcRect t="15568" b="12100"/>
          <a:stretch>
            <a:fillRect/>
          </a:stretch>
        </p:blipFill>
        <p:spPr>
          <a:xfrm>
            <a:off x="20" y="10"/>
            <a:ext cx="12191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extLst>
      <p:ext uri="{BB962C8B-B14F-4D97-AF65-F5344CB8AC3E}">
        <p14:creationId xmlns:p14="http://schemas.microsoft.com/office/powerpoint/2010/main" val="1757056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259B8C65-0EAD-ABEF-5301-581F1CB7AE7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5746"/>
          <a:stretch>
            <a:fillRect/>
          </a:stretch>
        </p:blipFill>
        <p:spPr>
          <a:xfrm>
            <a:off x="20" y="1282"/>
            <a:ext cx="12191980" cy="6856718"/>
          </a:xfrm>
          <a:prstGeom prst="rect">
            <a:avLst/>
          </a:prstGeom>
        </p:spPr>
      </p:pic>
      <p:sp>
        <p:nvSpPr>
          <p:cNvPr id="6" name="TextBox 5">
            <a:extLst>
              <a:ext uri="{FF2B5EF4-FFF2-40B4-BE49-F238E27FC236}">
                <a16:creationId xmlns:a16="http://schemas.microsoft.com/office/drawing/2014/main" id="{1BFC4574-8EB2-5500-0CD9-8399D92ED7BD}"/>
              </a:ext>
            </a:extLst>
          </p:cNvPr>
          <p:cNvSpPr txBox="1"/>
          <p:nvPr/>
        </p:nvSpPr>
        <p:spPr>
          <a:xfrm>
            <a:off x="3758083" y="200967"/>
            <a:ext cx="4520677" cy="707886"/>
          </a:xfrm>
          <a:prstGeom prst="rect">
            <a:avLst/>
          </a:prstGeom>
          <a:noFill/>
        </p:spPr>
        <p:txBody>
          <a:bodyPr wrap="square" rtlCol="0">
            <a:spAutoFit/>
          </a:bodyPr>
          <a:lstStyle/>
          <a:p>
            <a:r>
              <a:rPr lang="en-IN" sz="4000" u="sng" dirty="0">
                <a:latin typeface="ADLaM Display" panose="020F0502020204030204" pitchFamily="2" charset="0"/>
                <a:ea typeface="ADLaM Display" panose="020F0502020204030204" pitchFamily="2" charset="0"/>
                <a:cs typeface="ADLaM Display" panose="020F0502020204030204" pitchFamily="2" charset="0"/>
              </a:rPr>
              <a:t>Project Overview</a:t>
            </a:r>
          </a:p>
        </p:txBody>
      </p:sp>
      <p:sp>
        <p:nvSpPr>
          <p:cNvPr id="8" name="TextBox 7">
            <a:extLst>
              <a:ext uri="{FF2B5EF4-FFF2-40B4-BE49-F238E27FC236}">
                <a16:creationId xmlns:a16="http://schemas.microsoft.com/office/drawing/2014/main" id="{B16009D0-1E2F-4CFC-C7AA-564444989F8C}"/>
              </a:ext>
            </a:extLst>
          </p:cNvPr>
          <p:cNvSpPr txBox="1"/>
          <p:nvPr/>
        </p:nvSpPr>
        <p:spPr>
          <a:xfrm>
            <a:off x="3008671" y="1668773"/>
            <a:ext cx="6400800" cy="3360087"/>
          </a:xfrm>
          <a:prstGeom prst="rect">
            <a:avLst/>
          </a:prstGeom>
          <a:noFill/>
        </p:spPr>
        <p:txBody>
          <a:bodyPr wrap="square">
            <a:spAutoFit/>
          </a:bodyPr>
          <a:lstStyle/>
          <a:p>
            <a:pPr>
              <a:lnSpc>
                <a:spcPct val="115000"/>
              </a:lnSpc>
              <a:spcAft>
                <a:spcPts val="800"/>
              </a:spcAft>
              <a:buNone/>
            </a:pPr>
            <a:r>
              <a:rPr lang="en-IN" sz="2000" b="1" kern="100" dirty="0">
                <a:effectLst/>
                <a:latin typeface="Segoe UI Emoji" panose="020B0502040204020203" pitchFamily="34" charset="0"/>
                <a:ea typeface="Aptos" panose="020B0004020202020204" pitchFamily="34" charset="0"/>
                <a:cs typeface="Segoe UI Emoji" panose="020B0502040204020203" pitchFamily="34" charset="0"/>
              </a:rPr>
              <a:t>This project focuses on analysing customer data to understand patterns, behaviours, and key factors influencing customer churn. Using Exploratory Data Analysis (EDA), we examine relationships between variables such as demographics, services, and payment methods to uncover actionable insights.</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2000" b="1" kern="100" dirty="0">
                <a:effectLst/>
                <a:latin typeface="Segoe UI Emoji" panose="020B0502040204020203" pitchFamily="34" charset="0"/>
                <a:ea typeface="Aptos" panose="020B0004020202020204" pitchFamily="34" charset="0"/>
                <a:cs typeface="Segoe UI Emoji" panose="020B0502040204020203" pitchFamily="34" charset="0"/>
              </a:rPr>
              <a:t>The goal is to transform raw data into meaningful information that supports business decision-making and improves customer retention strategies.</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37557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A503D5-7B16-9ECD-E01F-4503B6476166}"/>
              </a:ext>
            </a:extLst>
          </p:cNvPr>
          <p:cNvPicPr>
            <a:picLocks noChangeAspect="1"/>
          </p:cNvPicPr>
          <p:nvPr/>
        </p:nvPicPr>
        <p:blipFill>
          <a:blip r:embed="rId2">
            <a:extLst>
              <a:ext uri="{28A0092B-C50C-407E-A947-70E740481C1C}">
                <a14:useLocalDpi xmlns:a14="http://schemas.microsoft.com/office/drawing/2010/main" val="0"/>
              </a:ext>
            </a:extLst>
          </a:blip>
          <a:srcRect l="22565" r="3729" b="-1"/>
          <a:stretch>
            <a:fillRect/>
          </a:stretch>
        </p:blipFill>
        <p:spPr>
          <a:xfrm>
            <a:off x="-9886" y="10"/>
            <a:ext cx="6501121" cy="6857990"/>
          </a:xfrm>
          <a:prstGeom prst="rect">
            <a:avLst/>
          </a:prstGeom>
        </p:spPr>
      </p:pic>
      <p:cxnSp>
        <p:nvCxnSpPr>
          <p:cNvPr id="34" name="Straight Connector 33">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Content Placeholder 13">
            <a:extLst>
              <a:ext uri="{FF2B5EF4-FFF2-40B4-BE49-F238E27FC236}">
                <a16:creationId xmlns:a16="http://schemas.microsoft.com/office/drawing/2014/main" id="{8D3387FF-AABC-6B62-F75F-0A286F7E790C}"/>
              </a:ext>
            </a:extLst>
          </p:cNvPr>
          <p:cNvSpPr>
            <a:spLocks noGrp="1"/>
          </p:cNvSpPr>
          <p:nvPr>
            <p:ph idx="1"/>
          </p:nvPr>
        </p:nvSpPr>
        <p:spPr>
          <a:xfrm>
            <a:off x="7050269" y="1727286"/>
            <a:ext cx="4325654" cy="4034417"/>
          </a:xfrm>
        </p:spPr>
        <p:txBody>
          <a:bodyPr>
            <a:normAutofit fontScale="92500" lnSpcReduction="20000"/>
          </a:bodyPr>
          <a:lstStyle/>
          <a:p>
            <a:pPr lvl="0"/>
            <a:r>
              <a:rPr lang="en-IN" sz="2400" b="1" dirty="0"/>
              <a:t>Identify key factors contributing to customer churn </a:t>
            </a:r>
            <a:endParaRPr lang="en-IN" sz="2400" dirty="0"/>
          </a:p>
          <a:p>
            <a:pPr lvl="0"/>
            <a:r>
              <a:rPr lang="en-IN" sz="2400" b="1" dirty="0"/>
              <a:t>Analyse customer demographics and service usage patterns </a:t>
            </a:r>
            <a:endParaRPr lang="en-IN" sz="2400" dirty="0"/>
          </a:p>
          <a:p>
            <a:pPr lvl="0"/>
            <a:r>
              <a:rPr lang="en-IN" sz="2400" b="1" dirty="0"/>
              <a:t>Detect trends and correlations between variables </a:t>
            </a:r>
            <a:endParaRPr lang="en-IN" sz="2400" dirty="0"/>
          </a:p>
          <a:p>
            <a:pPr lvl="0"/>
            <a:r>
              <a:rPr lang="en-IN" sz="2400" b="1" dirty="0"/>
              <a:t>Segment customers based on behaviours </a:t>
            </a:r>
            <a:endParaRPr lang="en-IN" sz="2400" dirty="0"/>
          </a:p>
          <a:p>
            <a:pPr lvl="0"/>
            <a:r>
              <a:rPr lang="en-IN" sz="2400" b="1" dirty="0"/>
              <a:t>Provide data-driven recommendations to reduce churn </a:t>
            </a:r>
            <a:endParaRPr lang="en-IN" sz="2400" dirty="0"/>
          </a:p>
          <a:p>
            <a:endParaRPr lang="en-US" sz="1600" dirty="0"/>
          </a:p>
        </p:txBody>
      </p:sp>
      <p:sp>
        <p:nvSpPr>
          <p:cNvPr id="6" name="TextBox 5">
            <a:extLst>
              <a:ext uri="{FF2B5EF4-FFF2-40B4-BE49-F238E27FC236}">
                <a16:creationId xmlns:a16="http://schemas.microsoft.com/office/drawing/2014/main" id="{94A3FD55-327B-A301-ACDE-262BF3E5DAB1}"/>
              </a:ext>
            </a:extLst>
          </p:cNvPr>
          <p:cNvSpPr txBox="1"/>
          <p:nvPr/>
        </p:nvSpPr>
        <p:spPr>
          <a:xfrm>
            <a:off x="7050270" y="253519"/>
            <a:ext cx="5004079" cy="707886"/>
          </a:xfrm>
          <a:prstGeom prst="rect">
            <a:avLst/>
          </a:prstGeom>
          <a:noFill/>
        </p:spPr>
        <p:txBody>
          <a:bodyPr wrap="square" rtlCol="0">
            <a:spAutoFit/>
          </a:bodyPr>
          <a:lstStyle/>
          <a:p>
            <a:r>
              <a:rPr lang="en-IN" sz="4000" dirty="0">
                <a:latin typeface="+mj-lt"/>
              </a:rPr>
              <a:t>Project Objectives</a:t>
            </a:r>
          </a:p>
        </p:txBody>
      </p:sp>
    </p:spTree>
    <p:extLst>
      <p:ext uri="{BB962C8B-B14F-4D97-AF65-F5344CB8AC3E}">
        <p14:creationId xmlns:p14="http://schemas.microsoft.com/office/powerpoint/2010/main" val="2335126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F79630B-0F0B-446E-A637-38FA8F61D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28"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BA7493E-AE62-E2C8-E1BE-5C9617D65276}"/>
              </a:ext>
            </a:extLst>
          </p:cNvPr>
          <p:cNvPicPr>
            <a:picLocks noChangeAspect="1"/>
          </p:cNvPicPr>
          <p:nvPr/>
        </p:nvPicPr>
        <p:blipFill>
          <a:blip r:embed="rId2">
            <a:extLst>
              <a:ext uri="{28A0092B-C50C-407E-A947-70E740481C1C}">
                <a14:useLocalDpi xmlns:a14="http://schemas.microsoft.com/office/drawing/2010/main" val="0"/>
              </a:ext>
            </a:extLst>
          </a:blip>
          <a:srcRect l="17437" r="12057" b="-2"/>
          <a:stretch>
            <a:fillRect/>
          </a:stretch>
        </p:blipFill>
        <p:spPr>
          <a:xfrm>
            <a:off x="4948188" y="1"/>
            <a:ext cx="7243812" cy="6857999"/>
          </a:xfrm>
          <a:custGeom>
            <a:avLst/>
            <a:gdLst/>
            <a:ahLst/>
            <a:cxnLst/>
            <a:rect l="l" t="t" r="r" b="b"/>
            <a:pathLst>
              <a:path w="7243812" h="6857999">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p:spPr>
      </p:pic>
      <p:graphicFrame>
        <p:nvGraphicFramePr>
          <p:cNvPr id="16" name="Content Placeholder 8">
            <a:extLst>
              <a:ext uri="{FF2B5EF4-FFF2-40B4-BE49-F238E27FC236}">
                <a16:creationId xmlns:a16="http://schemas.microsoft.com/office/drawing/2014/main" id="{B870F4F3-5126-F3F4-D1C6-77D6F44AA352}"/>
              </a:ext>
            </a:extLst>
          </p:cNvPr>
          <p:cNvGraphicFramePr>
            <a:graphicFrameLocks noGrp="1"/>
          </p:cNvGraphicFramePr>
          <p:nvPr>
            <p:ph idx="1"/>
          </p:nvPr>
        </p:nvGraphicFramePr>
        <p:xfrm>
          <a:off x="5683045" y="1609315"/>
          <a:ext cx="545444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itle 1">
            <a:extLst>
              <a:ext uri="{FF2B5EF4-FFF2-40B4-BE49-F238E27FC236}">
                <a16:creationId xmlns:a16="http://schemas.microsoft.com/office/drawing/2014/main" id="{27401AC2-3B32-EF70-8D3D-EFA2946F2D19}"/>
              </a:ext>
            </a:extLst>
          </p:cNvPr>
          <p:cNvSpPr>
            <a:spLocks noGrp="1"/>
          </p:cNvSpPr>
          <p:nvPr>
            <p:ph type="title"/>
          </p:nvPr>
        </p:nvSpPr>
        <p:spPr>
          <a:xfrm>
            <a:off x="925420" y="3068131"/>
            <a:ext cx="3887739" cy="1162225"/>
          </a:xfrm>
        </p:spPr>
        <p:txBody>
          <a:bodyPr>
            <a:noAutofit/>
          </a:bodyPr>
          <a:lstStyle/>
          <a:p>
            <a:pPr algn="ctr"/>
            <a:r>
              <a:rPr lang="en-IN" sz="3600" dirty="0">
                <a:ea typeface="ADLaM Display" panose="02010000000000000000" pitchFamily="2" charset="0"/>
                <a:cs typeface="ADLaM Display" panose="02010000000000000000" pitchFamily="2" charset="0"/>
              </a:rPr>
              <a:t>Business </a:t>
            </a:r>
            <a:br>
              <a:rPr lang="en-IN" sz="3600" dirty="0">
                <a:ea typeface="ADLaM Display" panose="02010000000000000000" pitchFamily="2" charset="0"/>
                <a:cs typeface="ADLaM Display" panose="02010000000000000000" pitchFamily="2" charset="0"/>
              </a:rPr>
            </a:br>
            <a:r>
              <a:rPr lang="en-IN" sz="3600" dirty="0">
                <a:ea typeface="ADLaM Display" panose="02010000000000000000" pitchFamily="2" charset="0"/>
                <a:cs typeface="ADLaM Display" panose="02010000000000000000" pitchFamily="2" charset="0"/>
              </a:rPr>
              <a:t>Problem Statement</a:t>
            </a:r>
          </a:p>
        </p:txBody>
      </p:sp>
    </p:spTree>
    <p:extLst>
      <p:ext uri="{BB962C8B-B14F-4D97-AF65-F5344CB8AC3E}">
        <p14:creationId xmlns:p14="http://schemas.microsoft.com/office/powerpoint/2010/main" val="3341964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F2D4A65A-67EC-6AAA-06D4-3FEF675E0E6E}"/>
              </a:ext>
            </a:extLst>
          </p:cNvPr>
          <p:cNvPicPr>
            <a:picLocks noChangeAspect="1"/>
          </p:cNvPicPr>
          <p:nvPr/>
        </p:nvPicPr>
        <p:blipFill>
          <a:blip r:embed="rId2">
            <a:extLst>
              <a:ext uri="{28A0092B-C50C-407E-A947-70E740481C1C}">
                <a14:useLocalDpi xmlns:a14="http://schemas.microsoft.com/office/drawing/2010/main" val="0"/>
              </a:ext>
            </a:extLst>
          </a:blip>
          <a:srcRect l="23023" r="17643" b="-2"/>
          <a:stretch>
            <a:fillRect/>
          </a:stretch>
        </p:blipFill>
        <p:spPr>
          <a:xfrm>
            <a:off x="-1" y="-2"/>
            <a:ext cx="6096001" cy="6858002"/>
          </a:xfrm>
          <a:prstGeom prst="rect">
            <a:avLst/>
          </a:prstGeom>
        </p:spPr>
      </p:pic>
      <p:pic>
        <p:nvPicPr>
          <p:cNvPr id="7" name="Content Placeholder 6">
            <a:extLst>
              <a:ext uri="{FF2B5EF4-FFF2-40B4-BE49-F238E27FC236}">
                <a16:creationId xmlns:a16="http://schemas.microsoft.com/office/drawing/2014/main" id="{59E01F56-C494-B207-39C5-A2DB2266EA65}"/>
              </a:ext>
            </a:extLst>
          </p:cNvPr>
          <p:cNvPicPr>
            <a:picLocks noGrp="1" noChangeAspect="1"/>
          </p:cNvPicPr>
          <p:nvPr>
            <p:ph idx="1"/>
          </p:nvPr>
        </p:nvPicPr>
        <p:blipFill>
          <a:blip r:embed="rId3"/>
          <a:stretch>
            <a:fillRect/>
          </a:stretch>
        </p:blipFill>
        <p:spPr>
          <a:xfrm>
            <a:off x="6272981" y="160914"/>
            <a:ext cx="5722328" cy="4352092"/>
          </a:xfrm>
          <a:prstGeom prst="rect">
            <a:avLst/>
          </a:prstGeom>
        </p:spPr>
      </p:pic>
      <p:sp>
        <p:nvSpPr>
          <p:cNvPr id="11" name="Title 1">
            <a:extLst>
              <a:ext uri="{FF2B5EF4-FFF2-40B4-BE49-F238E27FC236}">
                <a16:creationId xmlns:a16="http://schemas.microsoft.com/office/drawing/2014/main" id="{7043EE66-1138-AC8E-96D0-A68DBB547846}"/>
              </a:ext>
            </a:extLst>
          </p:cNvPr>
          <p:cNvSpPr>
            <a:spLocks noGrp="1"/>
          </p:cNvSpPr>
          <p:nvPr>
            <p:ph type="title"/>
          </p:nvPr>
        </p:nvSpPr>
        <p:spPr>
          <a:xfrm>
            <a:off x="1388806" y="2597048"/>
            <a:ext cx="2809568" cy="1325563"/>
          </a:xfrm>
        </p:spPr>
        <p:txBody>
          <a:bodyPr anchor="ctr">
            <a:normAutofit fontScale="90000"/>
          </a:bodyPr>
          <a:lstStyle/>
          <a:p>
            <a:r>
              <a:rPr lang="en-US" sz="3700"/>
              <a:t>Customer Distribution by Churn Status</a:t>
            </a:r>
            <a:endParaRPr lang="en-IN" sz="3700" dirty="0"/>
          </a:p>
        </p:txBody>
      </p:sp>
      <p:sp>
        <p:nvSpPr>
          <p:cNvPr id="15" name="TextBox 14">
            <a:extLst>
              <a:ext uri="{FF2B5EF4-FFF2-40B4-BE49-F238E27FC236}">
                <a16:creationId xmlns:a16="http://schemas.microsoft.com/office/drawing/2014/main" id="{B4DD18D5-A56D-BFD7-5FD2-2A419201EC14}"/>
              </a:ext>
            </a:extLst>
          </p:cNvPr>
          <p:cNvSpPr txBox="1"/>
          <p:nvPr/>
        </p:nvSpPr>
        <p:spPr>
          <a:xfrm>
            <a:off x="6272982" y="4562118"/>
            <a:ext cx="5722328" cy="2246769"/>
          </a:xfrm>
          <a:prstGeom prst="rect">
            <a:avLst/>
          </a:prstGeom>
          <a:noFill/>
        </p:spPr>
        <p:txBody>
          <a:bodyPr wrap="square">
            <a:spAutoFit/>
          </a:bodyPr>
          <a:lstStyle/>
          <a:p>
            <a:pPr>
              <a:buNone/>
            </a:pPr>
            <a:r>
              <a:rPr lang="en-US" sz="1400"/>
              <a:t>The above chart shows the distribution of customers based on their churn status.</a:t>
            </a:r>
          </a:p>
          <a:p>
            <a:pPr>
              <a:buFont typeface="Arial" panose="020B0604020202020204" pitchFamily="34" charset="0"/>
              <a:buChar char="•"/>
            </a:pPr>
            <a:r>
              <a:rPr lang="en-US" sz="1400"/>
              <a:t>A significantly larger number of customers (</a:t>
            </a:r>
            <a:r>
              <a:rPr lang="en-US" sz="1400" b="1"/>
              <a:t>5174</a:t>
            </a:r>
            <a:r>
              <a:rPr lang="en-US" sz="1400"/>
              <a:t>) have </a:t>
            </a:r>
            <a:r>
              <a:rPr lang="en-US" sz="1400" b="1"/>
              <a:t>not churned</a:t>
            </a:r>
            <a:r>
              <a:rPr lang="en-US" sz="1400"/>
              <a:t>, indicating that they continue to use the company’s services. </a:t>
            </a:r>
          </a:p>
          <a:p>
            <a:pPr>
              <a:buFont typeface="Arial" panose="020B0604020202020204" pitchFamily="34" charset="0"/>
              <a:buChar char="•"/>
            </a:pPr>
            <a:endParaRPr lang="en-US" sz="1400"/>
          </a:p>
          <a:p>
            <a:pPr>
              <a:buFont typeface="Arial" panose="020B0604020202020204" pitchFamily="34" charset="0"/>
              <a:buChar char="•"/>
            </a:pPr>
            <a:r>
              <a:rPr lang="en-US" sz="1400"/>
              <a:t>In contrast, a smaller portion (</a:t>
            </a:r>
            <a:r>
              <a:rPr lang="en-US" sz="1400" b="1"/>
              <a:t>1869</a:t>
            </a:r>
            <a:r>
              <a:rPr lang="en-US" sz="1400"/>
              <a:t>) of customers have </a:t>
            </a:r>
            <a:r>
              <a:rPr lang="en-US" sz="1400" b="1"/>
              <a:t>churned</a:t>
            </a:r>
            <a:r>
              <a:rPr lang="en-US" sz="1400"/>
              <a:t>, meaning they have discontinued the service. </a:t>
            </a:r>
          </a:p>
          <a:p>
            <a:endParaRPr lang="en-US" sz="1400"/>
          </a:p>
          <a:p>
            <a:pPr>
              <a:buNone/>
            </a:pPr>
            <a:r>
              <a:rPr lang="en-US" sz="1400"/>
              <a:t>👉 This indicates that while the majority of customers are retained, there is still a considerable number of customers leaving the company.</a:t>
            </a:r>
            <a:endParaRPr lang="en-US" sz="1400" dirty="0"/>
          </a:p>
        </p:txBody>
      </p:sp>
    </p:spTree>
    <p:extLst>
      <p:ext uri="{BB962C8B-B14F-4D97-AF65-F5344CB8AC3E}">
        <p14:creationId xmlns:p14="http://schemas.microsoft.com/office/powerpoint/2010/main" val="2835507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31F33D-E480-A6D2-090D-6360B5C34397}"/>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475E4CD5-FFAF-B592-810A-E4DBBE802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5B14D525-D658-A1B1-E396-F48553B3B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78C7859-35F7-C042-6E53-FE684E9574D8}"/>
              </a:ext>
            </a:extLst>
          </p:cNvPr>
          <p:cNvPicPr>
            <a:picLocks noChangeAspect="1"/>
          </p:cNvPicPr>
          <p:nvPr/>
        </p:nvPicPr>
        <p:blipFill>
          <a:blip r:embed="rId2">
            <a:extLst>
              <a:ext uri="{28A0092B-C50C-407E-A947-70E740481C1C}">
                <a14:useLocalDpi xmlns:a14="http://schemas.microsoft.com/office/drawing/2010/main" val="0"/>
              </a:ext>
            </a:extLst>
          </a:blip>
          <a:srcRect l="23023" r="17643" b="-2"/>
          <a:stretch>
            <a:fillRect/>
          </a:stretch>
        </p:blipFill>
        <p:spPr>
          <a:xfrm>
            <a:off x="-1" y="-2"/>
            <a:ext cx="6096001" cy="6858002"/>
          </a:xfrm>
          <a:prstGeom prst="rect">
            <a:avLst/>
          </a:prstGeom>
        </p:spPr>
      </p:pic>
      <p:sp>
        <p:nvSpPr>
          <p:cNvPr id="11" name="Title 1">
            <a:extLst>
              <a:ext uri="{FF2B5EF4-FFF2-40B4-BE49-F238E27FC236}">
                <a16:creationId xmlns:a16="http://schemas.microsoft.com/office/drawing/2014/main" id="{D8640B55-01BD-499A-6901-73E2D3FE785A}"/>
              </a:ext>
            </a:extLst>
          </p:cNvPr>
          <p:cNvSpPr>
            <a:spLocks noGrp="1"/>
          </p:cNvSpPr>
          <p:nvPr>
            <p:ph type="title"/>
          </p:nvPr>
        </p:nvSpPr>
        <p:spPr>
          <a:xfrm>
            <a:off x="1388806" y="2597048"/>
            <a:ext cx="2809568" cy="1325563"/>
          </a:xfrm>
        </p:spPr>
        <p:txBody>
          <a:bodyPr anchor="ctr">
            <a:normAutofit fontScale="90000"/>
          </a:bodyPr>
          <a:lstStyle/>
          <a:p>
            <a:r>
              <a:rPr lang="en-US" sz="3700" dirty="0"/>
              <a:t>Customer Churn Distribution (%)</a:t>
            </a:r>
            <a:endParaRPr lang="en-IN" sz="3700" dirty="0"/>
          </a:p>
        </p:txBody>
      </p:sp>
      <p:sp>
        <p:nvSpPr>
          <p:cNvPr id="15" name="TextBox 14">
            <a:extLst>
              <a:ext uri="{FF2B5EF4-FFF2-40B4-BE49-F238E27FC236}">
                <a16:creationId xmlns:a16="http://schemas.microsoft.com/office/drawing/2014/main" id="{AE221099-1B18-7BBA-406A-0CBF22C50D53}"/>
              </a:ext>
            </a:extLst>
          </p:cNvPr>
          <p:cNvSpPr txBox="1"/>
          <p:nvPr/>
        </p:nvSpPr>
        <p:spPr>
          <a:xfrm>
            <a:off x="6274146" y="4500563"/>
            <a:ext cx="5722328" cy="2308324"/>
          </a:xfrm>
          <a:prstGeom prst="rect">
            <a:avLst/>
          </a:prstGeom>
          <a:noFill/>
        </p:spPr>
        <p:txBody>
          <a:bodyPr wrap="square">
            <a:spAutoFit/>
          </a:bodyPr>
          <a:lstStyle/>
          <a:p>
            <a:r>
              <a:rPr lang="en-US" sz="1200" dirty="0"/>
              <a:t>The pie chart represents the percentage distribution of customers based on their churn status.</a:t>
            </a:r>
          </a:p>
          <a:p>
            <a:r>
              <a:rPr lang="en-US" sz="1200" dirty="0"/>
              <a:t>Approximately </a:t>
            </a:r>
            <a:r>
              <a:rPr lang="en-US" sz="1200" b="1" dirty="0"/>
              <a:t>73.46%</a:t>
            </a:r>
            <a:r>
              <a:rPr lang="en-US" sz="1200" dirty="0"/>
              <a:t> of customers have </a:t>
            </a:r>
            <a:r>
              <a:rPr lang="en-US" sz="1200" b="1" dirty="0"/>
              <a:t>not churned</a:t>
            </a:r>
            <a:r>
              <a:rPr lang="en-US" sz="1200" dirty="0"/>
              <a:t>, indicating strong customer retention. </a:t>
            </a:r>
          </a:p>
          <a:p>
            <a:r>
              <a:rPr lang="en-US" sz="1200" dirty="0"/>
              <a:t>Around </a:t>
            </a:r>
            <a:r>
              <a:rPr lang="en-US" sz="1200" b="1" dirty="0"/>
              <a:t>26.54%</a:t>
            </a:r>
            <a:r>
              <a:rPr lang="en-US" sz="1200" dirty="0"/>
              <a:t> of customers have </a:t>
            </a:r>
            <a:r>
              <a:rPr lang="en-US" sz="1200" b="1" dirty="0"/>
              <a:t>churned</a:t>
            </a:r>
            <a:r>
              <a:rPr lang="en-US" sz="1200" dirty="0"/>
              <a:t>, showing a significant portion of customers leaving the service.</a:t>
            </a:r>
          </a:p>
          <a:p>
            <a:endParaRPr lang="en-US" sz="1200" dirty="0"/>
          </a:p>
          <a:p>
            <a:r>
              <a:rPr lang="en-US" sz="1200" b="1" dirty="0"/>
              <a:t> Key Insight</a:t>
            </a:r>
          </a:p>
          <a:p>
            <a:r>
              <a:rPr lang="en-US" sz="1200" dirty="0"/>
              <a:t>The majority of customers are retained, which is a positive sign for the business. </a:t>
            </a:r>
          </a:p>
          <a:p>
            <a:r>
              <a:rPr lang="en-US" sz="1200" dirty="0"/>
              <a:t>However, </a:t>
            </a:r>
            <a:r>
              <a:rPr lang="en-US" sz="1200" b="1" dirty="0"/>
              <a:t>more than one-fourth of customers churning</a:t>
            </a:r>
            <a:r>
              <a:rPr lang="en-US" sz="1200" dirty="0"/>
              <a:t> is a concern and requires attention. </a:t>
            </a:r>
          </a:p>
          <a:p>
            <a:endParaRPr lang="en-US" sz="1200" dirty="0"/>
          </a:p>
        </p:txBody>
      </p:sp>
      <p:pic>
        <p:nvPicPr>
          <p:cNvPr id="6" name="Picture 5">
            <a:extLst>
              <a:ext uri="{FF2B5EF4-FFF2-40B4-BE49-F238E27FC236}">
                <a16:creationId xmlns:a16="http://schemas.microsoft.com/office/drawing/2014/main" id="{82360475-FB21-5B3E-B5CE-74D770DBC3BE}"/>
              </a:ext>
            </a:extLst>
          </p:cNvPr>
          <p:cNvPicPr>
            <a:picLocks noChangeAspect="1"/>
          </p:cNvPicPr>
          <p:nvPr/>
        </p:nvPicPr>
        <p:blipFill>
          <a:blip r:embed="rId3"/>
          <a:stretch>
            <a:fillRect/>
          </a:stretch>
        </p:blipFill>
        <p:spPr>
          <a:xfrm>
            <a:off x="6274146" y="49113"/>
            <a:ext cx="5142268" cy="4296697"/>
          </a:xfrm>
          <a:prstGeom prst="rect">
            <a:avLst/>
          </a:prstGeom>
        </p:spPr>
      </p:pic>
    </p:spTree>
    <p:extLst>
      <p:ext uri="{BB962C8B-B14F-4D97-AF65-F5344CB8AC3E}">
        <p14:creationId xmlns:p14="http://schemas.microsoft.com/office/powerpoint/2010/main" val="214639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B660A0-42CC-39F3-E37A-5AF012EC330D}"/>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FC5B140A-4839-ACDC-5A62-75D17A825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C791240-6E09-594B-C8A6-4AF7470C6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F64BAEB-44E4-A060-9D0E-9A6F264BB58B}"/>
              </a:ext>
            </a:extLst>
          </p:cNvPr>
          <p:cNvPicPr>
            <a:picLocks noChangeAspect="1"/>
          </p:cNvPicPr>
          <p:nvPr/>
        </p:nvPicPr>
        <p:blipFill>
          <a:blip r:embed="rId2">
            <a:extLst>
              <a:ext uri="{28A0092B-C50C-407E-A947-70E740481C1C}">
                <a14:useLocalDpi xmlns:a14="http://schemas.microsoft.com/office/drawing/2010/main" val="0"/>
              </a:ext>
            </a:extLst>
          </a:blip>
          <a:srcRect l="23023" r="17643" b="-2"/>
          <a:stretch>
            <a:fillRect/>
          </a:stretch>
        </p:blipFill>
        <p:spPr>
          <a:xfrm>
            <a:off x="-1" y="-2"/>
            <a:ext cx="6096001" cy="6858002"/>
          </a:xfrm>
          <a:prstGeom prst="rect">
            <a:avLst/>
          </a:prstGeom>
        </p:spPr>
      </p:pic>
      <p:sp>
        <p:nvSpPr>
          <p:cNvPr id="11" name="Title 1">
            <a:extLst>
              <a:ext uri="{FF2B5EF4-FFF2-40B4-BE49-F238E27FC236}">
                <a16:creationId xmlns:a16="http://schemas.microsoft.com/office/drawing/2014/main" id="{D664FAFC-5F14-6946-9D26-AC7F9798293C}"/>
              </a:ext>
            </a:extLst>
          </p:cNvPr>
          <p:cNvSpPr>
            <a:spLocks noGrp="1"/>
          </p:cNvSpPr>
          <p:nvPr>
            <p:ph type="title"/>
          </p:nvPr>
        </p:nvSpPr>
        <p:spPr>
          <a:xfrm>
            <a:off x="1388806" y="2597048"/>
            <a:ext cx="2809568" cy="1325563"/>
          </a:xfrm>
        </p:spPr>
        <p:txBody>
          <a:bodyPr anchor="ctr">
            <a:normAutofit fontScale="90000"/>
          </a:bodyPr>
          <a:lstStyle/>
          <a:p>
            <a:r>
              <a:rPr lang="en-US" sz="3700" dirty="0"/>
              <a:t>Customer Churn Distribution by Gender</a:t>
            </a:r>
            <a:endParaRPr lang="en-IN" sz="3700" dirty="0"/>
          </a:p>
        </p:txBody>
      </p:sp>
      <p:sp>
        <p:nvSpPr>
          <p:cNvPr id="15" name="TextBox 14">
            <a:extLst>
              <a:ext uri="{FF2B5EF4-FFF2-40B4-BE49-F238E27FC236}">
                <a16:creationId xmlns:a16="http://schemas.microsoft.com/office/drawing/2014/main" id="{9DCCE2AB-2DB9-47F9-6CAD-EA8959A9E70F}"/>
              </a:ext>
            </a:extLst>
          </p:cNvPr>
          <p:cNvSpPr txBox="1"/>
          <p:nvPr/>
        </p:nvSpPr>
        <p:spPr>
          <a:xfrm>
            <a:off x="6282836" y="4777562"/>
            <a:ext cx="5722328" cy="1754326"/>
          </a:xfrm>
          <a:prstGeom prst="rect">
            <a:avLst/>
          </a:prstGeom>
          <a:noFill/>
        </p:spPr>
        <p:txBody>
          <a:bodyPr wrap="square">
            <a:spAutoFit/>
          </a:bodyPr>
          <a:lstStyle/>
          <a:p>
            <a:r>
              <a:rPr lang="en-US" sz="1200" dirty="0"/>
              <a:t>The chart compares customer churn behavior across gender categories.</a:t>
            </a:r>
          </a:p>
          <a:p>
            <a:r>
              <a:rPr lang="en-US" sz="1200" dirty="0"/>
              <a:t>Among </a:t>
            </a:r>
            <a:r>
              <a:rPr lang="en-US" sz="1200" b="1" dirty="0"/>
              <a:t>female customers</a:t>
            </a:r>
            <a:r>
              <a:rPr lang="en-US" sz="1200" dirty="0"/>
              <a:t>, </a:t>
            </a:r>
            <a:r>
              <a:rPr lang="en-US" sz="1200" b="1" dirty="0"/>
              <a:t>2549</a:t>
            </a:r>
            <a:r>
              <a:rPr lang="en-US" sz="1200" dirty="0"/>
              <a:t> have not churned while </a:t>
            </a:r>
            <a:r>
              <a:rPr lang="en-US" sz="1200" b="1" dirty="0"/>
              <a:t>939</a:t>
            </a:r>
            <a:r>
              <a:rPr lang="en-US" sz="1200" dirty="0"/>
              <a:t> have churned. </a:t>
            </a:r>
          </a:p>
          <a:p>
            <a:r>
              <a:rPr lang="en-US" sz="1200" dirty="0"/>
              <a:t>Among </a:t>
            </a:r>
            <a:r>
              <a:rPr lang="en-US" sz="1200" b="1" dirty="0"/>
              <a:t>male customers</a:t>
            </a:r>
            <a:r>
              <a:rPr lang="en-US" sz="1200" dirty="0"/>
              <a:t>, </a:t>
            </a:r>
            <a:r>
              <a:rPr lang="en-US" sz="1200" b="1" dirty="0"/>
              <a:t>2625</a:t>
            </a:r>
            <a:r>
              <a:rPr lang="en-US" sz="1200" dirty="0"/>
              <a:t> have not churned while </a:t>
            </a:r>
            <a:r>
              <a:rPr lang="en-US" sz="1200" b="1" dirty="0"/>
              <a:t>930</a:t>
            </a:r>
            <a:r>
              <a:rPr lang="en-US" sz="1200" dirty="0"/>
              <a:t> have churned. </a:t>
            </a:r>
          </a:p>
          <a:p>
            <a:r>
              <a:rPr lang="en-US" sz="1200" dirty="0"/>
              <a:t>👉 The number of retained customers is significantly higher than churned customers for both genders.</a:t>
            </a:r>
          </a:p>
          <a:p>
            <a:r>
              <a:rPr lang="en-US" sz="1200" b="1" dirty="0"/>
              <a:t>🎯 Key Insight</a:t>
            </a:r>
          </a:p>
          <a:p>
            <a:r>
              <a:rPr lang="en-US" sz="1200" dirty="0"/>
              <a:t>Churn levels are </a:t>
            </a:r>
            <a:r>
              <a:rPr lang="en-US" sz="1200" b="1" dirty="0"/>
              <a:t>almost similar for both male and female customers</a:t>
            </a:r>
            <a:r>
              <a:rPr lang="en-US" sz="1200" dirty="0"/>
              <a:t> </a:t>
            </a:r>
          </a:p>
          <a:p>
            <a:r>
              <a:rPr lang="en-US" sz="1200" dirty="0"/>
              <a:t>Gender does </a:t>
            </a:r>
            <a:r>
              <a:rPr lang="en-US" sz="1200" b="1" dirty="0"/>
              <a:t>not appear to be a major factor influencing churn</a:t>
            </a:r>
            <a:r>
              <a:rPr lang="en-US" sz="1200" dirty="0"/>
              <a:t> </a:t>
            </a:r>
          </a:p>
          <a:p>
            <a:endParaRPr lang="en-US" sz="1200" dirty="0"/>
          </a:p>
        </p:txBody>
      </p:sp>
      <p:pic>
        <p:nvPicPr>
          <p:cNvPr id="3" name="Picture 2">
            <a:extLst>
              <a:ext uri="{FF2B5EF4-FFF2-40B4-BE49-F238E27FC236}">
                <a16:creationId xmlns:a16="http://schemas.microsoft.com/office/drawing/2014/main" id="{4DC45FB0-3B6C-3524-BAD0-2920E7149D40}"/>
              </a:ext>
            </a:extLst>
          </p:cNvPr>
          <p:cNvPicPr>
            <a:picLocks noChangeAspect="1"/>
          </p:cNvPicPr>
          <p:nvPr/>
        </p:nvPicPr>
        <p:blipFill>
          <a:blip r:embed="rId3"/>
          <a:stretch>
            <a:fillRect/>
          </a:stretch>
        </p:blipFill>
        <p:spPr>
          <a:xfrm>
            <a:off x="6491682" y="71663"/>
            <a:ext cx="4924731" cy="4511488"/>
          </a:xfrm>
          <a:prstGeom prst="rect">
            <a:avLst/>
          </a:prstGeom>
        </p:spPr>
      </p:pic>
    </p:spTree>
    <p:extLst>
      <p:ext uri="{BB962C8B-B14F-4D97-AF65-F5344CB8AC3E}">
        <p14:creationId xmlns:p14="http://schemas.microsoft.com/office/powerpoint/2010/main" val="1928132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6692F5-807F-2449-94BF-E2C71CE529E3}"/>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F9F59DE2-D36A-B490-4B85-0A1EB8CDD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52A7BF2A-DACF-1EEF-066A-F0AD2FE4E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3BB636F-47AB-7101-6A29-4D705D3C3C6A}"/>
              </a:ext>
            </a:extLst>
          </p:cNvPr>
          <p:cNvPicPr>
            <a:picLocks noChangeAspect="1"/>
          </p:cNvPicPr>
          <p:nvPr/>
        </p:nvPicPr>
        <p:blipFill>
          <a:blip r:embed="rId2">
            <a:extLst>
              <a:ext uri="{28A0092B-C50C-407E-A947-70E740481C1C}">
                <a14:useLocalDpi xmlns:a14="http://schemas.microsoft.com/office/drawing/2010/main" val="0"/>
              </a:ext>
            </a:extLst>
          </a:blip>
          <a:srcRect l="23023" r="17643" b="-2"/>
          <a:stretch>
            <a:fillRect/>
          </a:stretch>
        </p:blipFill>
        <p:spPr>
          <a:xfrm>
            <a:off x="-1" y="-2"/>
            <a:ext cx="6096001" cy="6858002"/>
          </a:xfrm>
          <a:prstGeom prst="rect">
            <a:avLst/>
          </a:prstGeom>
        </p:spPr>
      </p:pic>
      <p:sp>
        <p:nvSpPr>
          <p:cNvPr id="11" name="Title 1">
            <a:extLst>
              <a:ext uri="{FF2B5EF4-FFF2-40B4-BE49-F238E27FC236}">
                <a16:creationId xmlns:a16="http://schemas.microsoft.com/office/drawing/2014/main" id="{ABCC0B9D-D7E7-F337-0CB2-DB17A263514F}"/>
              </a:ext>
            </a:extLst>
          </p:cNvPr>
          <p:cNvSpPr>
            <a:spLocks noGrp="1"/>
          </p:cNvSpPr>
          <p:nvPr>
            <p:ph type="title"/>
          </p:nvPr>
        </p:nvSpPr>
        <p:spPr>
          <a:xfrm>
            <a:off x="1388806" y="2597048"/>
            <a:ext cx="2809568" cy="1325563"/>
          </a:xfrm>
        </p:spPr>
        <p:txBody>
          <a:bodyPr anchor="ctr">
            <a:normAutofit fontScale="90000"/>
          </a:bodyPr>
          <a:lstStyle/>
          <a:p>
            <a:r>
              <a:rPr lang="en-US" sz="3700" dirty="0"/>
              <a:t>Customer Distribution by Senior Citizen Status</a:t>
            </a:r>
            <a:endParaRPr lang="en-IN" sz="3700" dirty="0"/>
          </a:p>
        </p:txBody>
      </p:sp>
      <p:sp>
        <p:nvSpPr>
          <p:cNvPr id="15" name="TextBox 14">
            <a:extLst>
              <a:ext uri="{FF2B5EF4-FFF2-40B4-BE49-F238E27FC236}">
                <a16:creationId xmlns:a16="http://schemas.microsoft.com/office/drawing/2014/main" id="{67E26C8F-E9C0-3170-B3D9-33C33F1BB648}"/>
              </a:ext>
            </a:extLst>
          </p:cNvPr>
          <p:cNvSpPr txBox="1"/>
          <p:nvPr/>
        </p:nvSpPr>
        <p:spPr>
          <a:xfrm>
            <a:off x="6282836" y="4777562"/>
            <a:ext cx="5722328" cy="1754326"/>
          </a:xfrm>
          <a:prstGeom prst="rect">
            <a:avLst/>
          </a:prstGeom>
          <a:noFill/>
        </p:spPr>
        <p:txBody>
          <a:bodyPr wrap="square">
            <a:spAutoFit/>
          </a:bodyPr>
          <a:lstStyle/>
          <a:p>
            <a:r>
              <a:rPr lang="en-US" sz="1200" dirty="0"/>
              <a:t>The chart shows the distribution of customers based on Senior Citizen status.</a:t>
            </a:r>
            <a:br>
              <a:rPr lang="en-US" sz="1200" dirty="0"/>
            </a:br>
            <a:r>
              <a:rPr lang="en-US" sz="1200" dirty="0"/>
              <a:t>Out of the total customers, 5901 are non-senior citizens (0), while only 1142 are senior citizens (1).</a:t>
            </a:r>
          </a:p>
          <a:p>
            <a:r>
              <a:rPr lang="en-US" sz="1200" dirty="0"/>
              <a:t>👉 The majority of customers belong to the non-senior category.</a:t>
            </a:r>
            <a:br>
              <a:rPr lang="en-US" sz="1200" dirty="0"/>
            </a:br>
            <a:r>
              <a:rPr lang="en-US" sz="1200" dirty="0"/>
              <a:t>👉 Senior citizens make up a much smaller portion of the customer base.</a:t>
            </a:r>
          </a:p>
          <a:p>
            <a:r>
              <a:rPr lang="en-US" sz="1200" b="1" dirty="0"/>
              <a:t>Key Insight</a:t>
            </a:r>
            <a:br>
              <a:rPr lang="en-US" sz="1200" dirty="0"/>
            </a:br>
            <a:r>
              <a:rPr lang="en-US" sz="1200" dirty="0"/>
              <a:t>The dataset is heavily skewed towards non-senior customers, indicating that most customers are younger individuals, with senior citizens representing a relatively small segment.</a:t>
            </a:r>
          </a:p>
        </p:txBody>
      </p:sp>
      <p:pic>
        <p:nvPicPr>
          <p:cNvPr id="4" name="Picture 3">
            <a:extLst>
              <a:ext uri="{FF2B5EF4-FFF2-40B4-BE49-F238E27FC236}">
                <a16:creationId xmlns:a16="http://schemas.microsoft.com/office/drawing/2014/main" id="{353817F4-DC7F-F4F9-7C26-6D0DF19A4C82}"/>
              </a:ext>
            </a:extLst>
          </p:cNvPr>
          <p:cNvPicPr>
            <a:picLocks noChangeAspect="1"/>
          </p:cNvPicPr>
          <p:nvPr/>
        </p:nvPicPr>
        <p:blipFill>
          <a:blip r:embed="rId3"/>
          <a:stretch>
            <a:fillRect/>
          </a:stretch>
        </p:blipFill>
        <p:spPr>
          <a:xfrm>
            <a:off x="6282836" y="103556"/>
            <a:ext cx="5024501" cy="4481240"/>
          </a:xfrm>
          <a:prstGeom prst="rect">
            <a:avLst/>
          </a:prstGeom>
        </p:spPr>
      </p:pic>
    </p:spTree>
    <p:extLst>
      <p:ext uri="{BB962C8B-B14F-4D97-AF65-F5344CB8AC3E}">
        <p14:creationId xmlns:p14="http://schemas.microsoft.com/office/powerpoint/2010/main" val="1275623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FCCD00-E03E-4C04-0563-7970EFD7478F}"/>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7F9ECAD4-4381-8918-80F0-CBB90F36A1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70715804-C813-976A-1EC1-6050B2BC9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31145B2-B1C2-C198-0301-00D44B215171}"/>
              </a:ext>
            </a:extLst>
          </p:cNvPr>
          <p:cNvPicPr>
            <a:picLocks noChangeAspect="1"/>
          </p:cNvPicPr>
          <p:nvPr/>
        </p:nvPicPr>
        <p:blipFill>
          <a:blip r:embed="rId2">
            <a:extLst>
              <a:ext uri="{28A0092B-C50C-407E-A947-70E740481C1C}">
                <a14:useLocalDpi xmlns:a14="http://schemas.microsoft.com/office/drawing/2010/main" val="0"/>
              </a:ext>
            </a:extLst>
          </a:blip>
          <a:srcRect l="23023" r="17643" b="-2"/>
          <a:stretch>
            <a:fillRect/>
          </a:stretch>
        </p:blipFill>
        <p:spPr>
          <a:xfrm>
            <a:off x="-1" y="-2"/>
            <a:ext cx="6096001" cy="6858002"/>
          </a:xfrm>
          <a:prstGeom prst="rect">
            <a:avLst/>
          </a:prstGeom>
        </p:spPr>
      </p:pic>
      <p:sp>
        <p:nvSpPr>
          <p:cNvPr id="11" name="Title 1">
            <a:extLst>
              <a:ext uri="{FF2B5EF4-FFF2-40B4-BE49-F238E27FC236}">
                <a16:creationId xmlns:a16="http://schemas.microsoft.com/office/drawing/2014/main" id="{9557501D-0EF9-B980-172F-1B09FF4684C8}"/>
              </a:ext>
            </a:extLst>
          </p:cNvPr>
          <p:cNvSpPr>
            <a:spLocks noGrp="1"/>
          </p:cNvSpPr>
          <p:nvPr>
            <p:ph type="title"/>
          </p:nvPr>
        </p:nvSpPr>
        <p:spPr>
          <a:xfrm>
            <a:off x="1388806" y="2597048"/>
            <a:ext cx="2809568" cy="1325563"/>
          </a:xfrm>
        </p:spPr>
        <p:txBody>
          <a:bodyPr anchor="ctr">
            <a:normAutofit/>
          </a:bodyPr>
          <a:lstStyle/>
          <a:p>
            <a:r>
              <a:rPr lang="en-US" sz="3700" dirty="0"/>
              <a:t>Churn by Senior Citizen </a:t>
            </a:r>
            <a:endParaRPr lang="en-IN" sz="3700" dirty="0"/>
          </a:p>
        </p:txBody>
      </p:sp>
      <p:sp>
        <p:nvSpPr>
          <p:cNvPr id="15" name="TextBox 14">
            <a:extLst>
              <a:ext uri="{FF2B5EF4-FFF2-40B4-BE49-F238E27FC236}">
                <a16:creationId xmlns:a16="http://schemas.microsoft.com/office/drawing/2014/main" id="{D02FF1C6-D4F2-3955-CF76-70C212B0BA87}"/>
              </a:ext>
            </a:extLst>
          </p:cNvPr>
          <p:cNvSpPr txBox="1"/>
          <p:nvPr/>
        </p:nvSpPr>
        <p:spPr>
          <a:xfrm>
            <a:off x="6282836" y="4777562"/>
            <a:ext cx="5722328" cy="1569660"/>
          </a:xfrm>
          <a:prstGeom prst="rect">
            <a:avLst/>
          </a:prstGeom>
          <a:noFill/>
        </p:spPr>
        <p:txBody>
          <a:bodyPr wrap="square">
            <a:spAutoFit/>
          </a:bodyPr>
          <a:lstStyle/>
          <a:p>
            <a:r>
              <a:rPr lang="en-US" sz="1200" dirty="0"/>
              <a:t>The chart compares customer churn behavior across Senior Citizen categories.</a:t>
            </a:r>
            <a:br>
              <a:rPr lang="en-US" sz="1200" dirty="0"/>
            </a:br>
            <a:r>
              <a:rPr lang="en-US" sz="1200" dirty="0"/>
              <a:t>Among non-senior customers, 76.4% have not churned while 23.6% have churned.</a:t>
            </a:r>
            <a:br>
              <a:rPr lang="en-US" sz="1200" dirty="0"/>
            </a:br>
            <a:r>
              <a:rPr lang="en-US" sz="1200" dirty="0"/>
              <a:t>Among senior citizens, 58.3% have not churned while 41.7% have churned.</a:t>
            </a:r>
          </a:p>
          <a:p>
            <a:r>
              <a:rPr lang="en-US" sz="1200" dirty="0"/>
              <a:t>👉 Non-senior customers show higher retention compared to senior citizens.</a:t>
            </a:r>
            <a:br>
              <a:rPr lang="en-US" sz="1200" dirty="0"/>
            </a:br>
            <a:r>
              <a:rPr lang="en-US" sz="1200" dirty="0"/>
              <a:t>👉 Senior citizens have a noticeably higher churn percentage.</a:t>
            </a:r>
          </a:p>
          <a:p>
            <a:r>
              <a:rPr lang="en-US" sz="1200" b="1" dirty="0"/>
              <a:t>Key Insight</a:t>
            </a:r>
            <a:br>
              <a:rPr lang="en-US" sz="1200" dirty="0"/>
            </a:br>
            <a:r>
              <a:rPr lang="en-US" sz="1200" dirty="0"/>
              <a:t>Senior citizens are more likely to churn compared to non-senior customers, indicating that age group plays a significant role in customer retention.</a:t>
            </a:r>
          </a:p>
        </p:txBody>
      </p:sp>
      <p:pic>
        <p:nvPicPr>
          <p:cNvPr id="3" name="Picture 2">
            <a:extLst>
              <a:ext uri="{FF2B5EF4-FFF2-40B4-BE49-F238E27FC236}">
                <a16:creationId xmlns:a16="http://schemas.microsoft.com/office/drawing/2014/main" id="{3C814096-1692-5C50-F808-8310DC211EED}"/>
              </a:ext>
            </a:extLst>
          </p:cNvPr>
          <p:cNvPicPr>
            <a:picLocks noChangeAspect="1"/>
          </p:cNvPicPr>
          <p:nvPr/>
        </p:nvPicPr>
        <p:blipFill>
          <a:blip r:embed="rId3"/>
          <a:stretch>
            <a:fillRect/>
          </a:stretch>
        </p:blipFill>
        <p:spPr>
          <a:xfrm>
            <a:off x="6282836" y="114389"/>
            <a:ext cx="5133578" cy="4703701"/>
          </a:xfrm>
          <a:prstGeom prst="rect">
            <a:avLst/>
          </a:prstGeom>
        </p:spPr>
      </p:pic>
    </p:spTree>
    <p:extLst>
      <p:ext uri="{BB962C8B-B14F-4D97-AF65-F5344CB8AC3E}">
        <p14:creationId xmlns:p14="http://schemas.microsoft.com/office/powerpoint/2010/main" val="4273320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C47957-FEF1-735F-5F5B-9C6D9D8A2AAF}"/>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9D54659B-0F1B-5E4C-2FFD-731CE9D2E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5543E17-B018-F914-FA07-3CD01B338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A067A4E-26CA-21AD-4B01-EE0C51B45FC6}"/>
              </a:ext>
            </a:extLst>
          </p:cNvPr>
          <p:cNvPicPr>
            <a:picLocks noChangeAspect="1"/>
          </p:cNvPicPr>
          <p:nvPr/>
        </p:nvPicPr>
        <p:blipFill>
          <a:blip r:embed="rId2">
            <a:extLst>
              <a:ext uri="{28A0092B-C50C-407E-A947-70E740481C1C}">
                <a14:useLocalDpi xmlns:a14="http://schemas.microsoft.com/office/drawing/2010/main" val="0"/>
              </a:ext>
            </a:extLst>
          </a:blip>
          <a:srcRect l="23023" r="17643" b="-2"/>
          <a:stretch>
            <a:fillRect/>
          </a:stretch>
        </p:blipFill>
        <p:spPr>
          <a:xfrm>
            <a:off x="-1" y="-2"/>
            <a:ext cx="6096001" cy="6858002"/>
          </a:xfrm>
          <a:prstGeom prst="rect">
            <a:avLst/>
          </a:prstGeom>
        </p:spPr>
      </p:pic>
      <p:sp>
        <p:nvSpPr>
          <p:cNvPr id="11" name="Title 1">
            <a:extLst>
              <a:ext uri="{FF2B5EF4-FFF2-40B4-BE49-F238E27FC236}">
                <a16:creationId xmlns:a16="http://schemas.microsoft.com/office/drawing/2014/main" id="{C412AA4D-856C-E1AC-AD89-E7956928D035}"/>
              </a:ext>
            </a:extLst>
          </p:cNvPr>
          <p:cNvSpPr>
            <a:spLocks noGrp="1"/>
          </p:cNvSpPr>
          <p:nvPr>
            <p:ph type="title"/>
          </p:nvPr>
        </p:nvSpPr>
        <p:spPr>
          <a:xfrm>
            <a:off x="1388806" y="2597048"/>
            <a:ext cx="2809568" cy="1325563"/>
          </a:xfrm>
        </p:spPr>
        <p:txBody>
          <a:bodyPr anchor="ctr">
            <a:normAutofit fontScale="90000"/>
          </a:bodyPr>
          <a:lstStyle/>
          <a:p>
            <a:r>
              <a:rPr lang="en-US" sz="3700" dirty="0"/>
              <a:t>Distribution of Customer Tenure by Churn Status</a:t>
            </a:r>
            <a:endParaRPr lang="en-IN" sz="3700" dirty="0"/>
          </a:p>
        </p:txBody>
      </p:sp>
      <p:sp>
        <p:nvSpPr>
          <p:cNvPr id="15" name="TextBox 14">
            <a:extLst>
              <a:ext uri="{FF2B5EF4-FFF2-40B4-BE49-F238E27FC236}">
                <a16:creationId xmlns:a16="http://schemas.microsoft.com/office/drawing/2014/main" id="{96EDAB13-ADA5-E835-056A-877CDE7858AF}"/>
              </a:ext>
            </a:extLst>
          </p:cNvPr>
          <p:cNvSpPr txBox="1"/>
          <p:nvPr/>
        </p:nvSpPr>
        <p:spPr>
          <a:xfrm>
            <a:off x="6282836" y="4566392"/>
            <a:ext cx="5133578" cy="2123658"/>
          </a:xfrm>
          <a:prstGeom prst="rect">
            <a:avLst/>
          </a:prstGeom>
          <a:noFill/>
        </p:spPr>
        <p:txBody>
          <a:bodyPr wrap="square">
            <a:spAutoFit/>
          </a:bodyPr>
          <a:lstStyle/>
          <a:p>
            <a:r>
              <a:rPr lang="en-US" sz="1100" dirty="0"/>
              <a:t>The chart compares customer churn behavior across different tenure (in months).</a:t>
            </a:r>
          </a:p>
          <a:p>
            <a:r>
              <a:rPr lang="en-US" sz="1100" dirty="0"/>
              <a:t>Customers with very low tenure (0–10 months) show a high concentration of churn, with a significant portion leaving early. As tenure increases, the number of churned customers gradually declines, while non-churned customers become more dominant.</a:t>
            </a:r>
          </a:p>
          <a:p>
            <a:r>
              <a:rPr lang="en-US" sz="1100" dirty="0"/>
              <a:t>👉 Early-stage customers (especially within the first year) are more likely to churn.</a:t>
            </a:r>
            <a:br>
              <a:rPr lang="en-US" sz="1100" dirty="0"/>
            </a:br>
            <a:r>
              <a:rPr lang="en-US" sz="1100" dirty="0"/>
              <a:t>👉 Customers with higher tenure (above ~40–50 months) exhibit strong retention and minimal churn.</a:t>
            </a:r>
          </a:p>
          <a:p>
            <a:r>
              <a:rPr lang="en-US" sz="1100" b="1" dirty="0"/>
              <a:t>Key Insight</a:t>
            </a:r>
            <a:br>
              <a:rPr lang="en-US" sz="1100" dirty="0"/>
            </a:br>
            <a:r>
              <a:rPr lang="en-US" sz="1100" dirty="0"/>
              <a:t>Customer churn is highest during the initial months of service, highlighting the importance of improving early customer experience and engagement to boost long-term retention.</a:t>
            </a:r>
          </a:p>
        </p:txBody>
      </p:sp>
      <p:pic>
        <p:nvPicPr>
          <p:cNvPr id="4" name="Picture 3">
            <a:extLst>
              <a:ext uri="{FF2B5EF4-FFF2-40B4-BE49-F238E27FC236}">
                <a16:creationId xmlns:a16="http://schemas.microsoft.com/office/drawing/2014/main" id="{F74E769E-9FF5-8668-39A9-D19BA77F0BE3}"/>
              </a:ext>
            </a:extLst>
          </p:cNvPr>
          <p:cNvPicPr>
            <a:picLocks noChangeAspect="1"/>
          </p:cNvPicPr>
          <p:nvPr/>
        </p:nvPicPr>
        <p:blipFill>
          <a:blip r:embed="rId3"/>
          <a:stretch>
            <a:fillRect/>
          </a:stretch>
        </p:blipFill>
        <p:spPr>
          <a:xfrm>
            <a:off x="6141588" y="175163"/>
            <a:ext cx="5274826" cy="4341081"/>
          </a:xfrm>
          <a:prstGeom prst="rect">
            <a:avLst/>
          </a:prstGeom>
        </p:spPr>
      </p:pic>
    </p:spTree>
    <p:extLst>
      <p:ext uri="{BB962C8B-B14F-4D97-AF65-F5344CB8AC3E}">
        <p14:creationId xmlns:p14="http://schemas.microsoft.com/office/powerpoint/2010/main" val="3599788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0F3A62-C924-3F92-6201-1D834D03624C}"/>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11EEDCE2-BE6B-1ACB-E2A3-082338723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7E67D62-C6D6-2FE1-9472-B62226D70B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81497E1-97FA-DA07-C6A5-07682BEE4B23}"/>
              </a:ext>
            </a:extLst>
          </p:cNvPr>
          <p:cNvPicPr>
            <a:picLocks noChangeAspect="1"/>
          </p:cNvPicPr>
          <p:nvPr/>
        </p:nvPicPr>
        <p:blipFill>
          <a:blip r:embed="rId2">
            <a:extLst>
              <a:ext uri="{28A0092B-C50C-407E-A947-70E740481C1C}">
                <a14:useLocalDpi xmlns:a14="http://schemas.microsoft.com/office/drawing/2010/main" val="0"/>
              </a:ext>
            </a:extLst>
          </a:blip>
          <a:srcRect l="23023" r="17643" b="-2"/>
          <a:stretch>
            <a:fillRect/>
          </a:stretch>
        </p:blipFill>
        <p:spPr>
          <a:xfrm>
            <a:off x="-1" y="-2"/>
            <a:ext cx="6096001" cy="6858002"/>
          </a:xfrm>
          <a:prstGeom prst="rect">
            <a:avLst/>
          </a:prstGeom>
        </p:spPr>
      </p:pic>
      <p:sp>
        <p:nvSpPr>
          <p:cNvPr id="11" name="Title 1">
            <a:extLst>
              <a:ext uri="{FF2B5EF4-FFF2-40B4-BE49-F238E27FC236}">
                <a16:creationId xmlns:a16="http://schemas.microsoft.com/office/drawing/2014/main" id="{5F2D8510-2D78-E9D5-3056-4ADEDE460C70}"/>
              </a:ext>
            </a:extLst>
          </p:cNvPr>
          <p:cNvSpPr>
            <a:spLocks noGrp="1"/>
          </p:cNvSpPr>
          <p:nvPr>
            <p:ph type="title"/>
          </p:nvPr>
        </p:nvSpPr>
        <p:spPr>
          <a:xfrm>
            <a:off x="1388806" y="2597048"/>
            <a:ext cx="2809568" cy="1325563"/>
          </a:xfrm>
        </p:spPr>
        <p:txBody>
          <a:bodyPr anchor="ctr">
            <a:normAutofit fontScale="90000"/>
          </a:bodyPr>
          <a:lstStyle/>
          <a:p>
            <a:r>
              <a:rPr lang="en-US" sz="3700" dirty="0"/>
              <a:t>Customer Distribution by Contract Type and Churn Status</a:t>
            </a:r>
            <a:endParaRPr lang="en-IN" sz="3700" dirty="0"/>
          </a:p>
        </p:txBody>
      </p:sp>
      <p:sp>
        <p:nvSpPr>
          <p:cNvPr id="15" name="TextBox 14">
            <a:extLst>
              <a:ext uri="{FF2B5EF4-FFF2-40B4-BE49-F238E27FC236}">
                <a16:creationId xmlns:a16="http://schemas.microsoft.com/office/drawing/2014/main" id="{57D1061C-6D87-C350-9ED5-3F81C79AE7D8}"/>
              </a:ext>
            </a:extLst>
          </p:cNvPr>
          <p:cNvSpPr txBox="1"/>
          <p:nvPr/>
        </p:nvSpPr>
        <p:spPr>
          <a:xfrm>
            <a:off x="6282836" y="4566392"/>
            <a:ext cx="5133578" cy="2292935"/>
          </a:xfrm>
          <a:prstGeom prst="rect">
            <a:avLst/>
          </a:prstGeom>
          <a:noFill/>
        </p:spPr>
        <p:txBody>
          <a:bodyPr wrap="square">
            <a:spAutoFit/>
          </a:bodyPr>
          <a:lstStyle/>
          <a:p>
            <a:r>
              <a:rPr lang="en-US" sz="1100" dirty="0"/>
              <a:t>The chart compares customer churn behavior across different contract types.</a:t>
            </a:r>
          </a:p>
          <a:p>
            <a:r>
              <a:rPr lang="en-US" sz="1100" dirty="0"/>
              <a:t>Among month-to-month customers, a large number have churned (1655) compared to those retained (2220), indicating relatively high churn. In contrast, one-year contracts show significantly lower churn (166 vs 1307 retained), and two-year contracts have the lowest churn (only 48 vs 1647 retained).</a:t>
            </a:r>
          </a:p>
          <a:p>
            <a:r>
              <a:rPr lang="en-US" sz="1100" dirty="0"/>
              <a:t>👉 Month-to-month contracts have the highest churn rate, showing customers are more likely to leave without long-term commitment.</a:t>
            </a:r>
            <a:br>
              <a:rPr lang="en-US" sz="1100" dirty="0"/>
            </a:br>
            <a:r>
              <a:rPr lang="en-US" sz="1100" dirty="0"/>
              <a:t>👉 Long-term contracts (one-year and especially two-year) have much stronger retention and minimal churn.</a:t>
            </a:r>
          </a:p>
          <a:p>
            <a:r>
              <a:rPr lang="en-US" sz="1100" b="1" dirty="0"/>
              <a:t>Key Insight</a:t>
            </a:r>
            <a:br>
              <a:rPr lang="en-US" sz="1100" dirty="0"/>
            </a:br>
            <a:r>
              <a:rPr lang="en-US" sz="1100" dirty="0"/>
              <a:t>Contract type strongly influences churn—customers on longer-term contracts are far more likely to stay, while month-to-month customers are at the highest risk of churning.</a:t>
            </a:r>
          </a:p>
        </p:txBody>
      </p:sp>
      <p:pic>
        <p:nvPicPr>
          <p:cNvPr id="3" name="Picture 2">
            <a:extLst>
              <a:ext uri="{FF2B5EF4-FFF2-40B4-BE49-F238E27FC236}">
                <a16:creationId xmlns:a16="http://schemas.microsoft.com/office/drawing/2014/main" id="{142C7071-5C2E-2B4E-8F75-472451FA9EBC}"/>
              </a:ext>
            </a:extLst>
          </p:cNvPr>
          <p:cNvPicPr>
            <a:picLocks noChangeAspect="1"/>
          </p:cNvPicPr>
          <p:nvPr/>
        </p:nvPicPr>
        <p:blipFill>
          <a:blip r:embed="rId3"/>
          <a:stretch>
            <a:fillRect/>
          </a:stretch>
        </p:blipFill>
        <p:spPr>
          <a:xfrm>
            <a:off x="6176414" y="0"/>
            <a:ext cx="5240000" cy="4675126"/>
          </a:xfrm>
          <a:prstGeom prst="rect">
            <a:avLst/>
          </a:prstGeom>
        </p:spPr>
      </p:pic>
    </p:spTree>
    <p:extLst>
      <p:ext uri="{BB962C8B-B14F-4D97-AF65-F5344CB8AC3E}">
        <p14:creationId xmlns:p14="http://schemas.microsoft.com/office/powerpoint/2010/main" val="2093411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83DE7E-6303-7DF5-F381-2DFF1F946870}"/>
              </a:ext>
            </a:extLst>
          </p:cNvPr>
          <p:cNvPicPr>
            <a:picLocks noChangeAspect="1"/>
          </p:cNvPicPr>
          <p:nvPr/>
        </p:nvPicPr>
        <p:blipFill>
          <a:blip r:embed="rId2"/>
          <a:stretch>
            <a:fillRect/>
          </a:stretch>
        </p:blipFill>
        <p:spPr>
          <a:xfrm>
            <a:off x="0" y="0"/>
            <a:ext cx="12192000" cy="3231951"/>
          </a:xfrm>
          <a:prstGeom prst="rect">
            <a:avLst/>
          </a:prstGeom>
        </p:spPr>
      </p:pic>
      <p:pic>
        <p:nvPicPr>
          <p:cNvPr id="7" name="Picture 6">
            <a:extLst>
              <a:ext uri="{FF2B5EF4-FFF2-40B4-BE49-F238E27FC236}">
                <a16:creationId xmlns:a16="http://schemas.microsoft.com/office/drawing/2014/main" id="{7C50AC26-05AE-D2A3-690A-B51534AA3FD6}"/>
              </a:ext>
            </a:extLst>
          </p:cNvPr>
          <p:cNvPicPr>
            <a:picLocks noChangeAspect="1"/>
          </p:cNvPicPr>
          <p:nvPr/>
        </p:nvPicPr>
        <p:blipFill>
          <a:blip r:embed="rId3"/>
          <a:stretch>
            <a:fillRect/>
          </a:stretch>
        </p:blipFill>
        <p:spPr>
          <a:xfrm>
            <a:off x="0" y="3626050"/>
            <a:ext cx="12192000" cy="2983541"/>
          </a:xfrm>
          <a:prstGeom prst="rect">
            <a:avLst/>
          </a:prstGeom>
        </p:spPr>
      </p:pic>
    </p:spTree>
    <p:extLst>
      <p:ext uri="{BB962C8B-B14F-4D97-AF65-F5344CB8AC3E}">
        <p14:creationId xmlns:p14="http://schemas.microsoft.com/office/powerpoint/2010/main" val="2015104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987084-1A0C-85ED-8957-BC47821EACB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1E5815-D54C-487F-A054-6D4930ADE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65ABF67-6B39-4D6B-C398-DF5D098C5F0C}"/>
              </a:ext>
            </a:extLst>
          </p:cNvPr>
          <p:cNvPicPr>
            <a:picLocks noChangeAspect="1"/>
          </p:cNvPicPr>
          <p:nvPr/>
        </p:nvPicPr>
        <p:blipFill>
          <a:blip r:embed="rId2"/>
          <a:stretch>
            <a:fillRect/>
          </a:stretch>
        </p:blipFill>
        <p:spPr>
          <a:xfrm>
            <a:off x="610013" y="1593000"/>
            <a:ext cx="9240039" cy="3671999"/>
          </a:xfrm>
          <a:prstGeom prst="rect">
            <a:avLst/>
          </a:prstGeom>
        </p:spPr>
      </p:pic>
      <p:sp>
        <p:nvSpPr>
          <p:cNvPr id="10" name="Freeform: Shape 9">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08496"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Tree>
    <p:extLst>
      <p:ext uri="{BB962C8B-B14F-4D97-AF65-F5344CB8AC3E}">
        <p14:creationId xmlns:p14="http://schemas.microsoft.com/office/powerpoint/2010/main" val="3057585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1557CC-9DBE-ED8C-0107-9251FE91C8AF}"/>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113AB198-8270-A3B7-DE1C-BD63A1C3A9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C6BA7271-9D61-4D2A-B8B6-43EC0F95A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5429A9E-D33E-2560-99C4-E61604817702}"/>
              </a:ext>
            </a:extLst>
          </p:cNvPr>
          <p:cNvPicPr>
            <a:picLocks noChangeAspect="1"/>
          </p:cNvPicPr>
          <p:nvPr/>
        </p:nvPicPr>
        <p:blipFill>
          <a:blip r:embed="rId2">
            <a:extLst>
              <a:ext uri="{28A0092B-C50C-407E-A947-70E740481C1C}">
                <a14:useLocalDpi xmlns:a14="http://schemas.microsoft.com/office/drawing/2010/main" val="0"/>
              </a:ext>
            </a:extLst>
          </a:blip>
          <a:srcRect l="23023" r="17643" b="-2"/>
          <a:stretch>
            <a:fillRect/>
          </a:stretch>
        </p:blipFill>
        <p:spPr>
          <a:xfrm>
            <a:off x="-1" y="-2"/>
            <a:ext cx="6096001" cy="6858002"/>
          </a:xfrm>
          <a:prstGeom prst="rect">
            <a:avLst/>
          </a:prstGeom>
        </p:spPr>
      </p:pic>
      <p:sp>
        <p:nvSpPr>
          <p:cNvPr id="11" name="Title 1">
            <a:extLst>
              <a:ext uri="{FF2B5EF4-FFF2-40B4-BE49-F238E27FC236}">
                <a16:creationId xmlns:a16="http://schemas.microsoft.com/office/drawing/2014/main" id="{42D4B547-815F-57CB-F8AB-F9BD053AC9E7}"/>
              </a:ext>
            </a:extLst>
          </p:cNvPr>
          <p:cNvSpPr>
            <a:spLocks noGrp="1"/>
          </p:cNvSpPr>
          <p:nvPr>
            <p:ph type="title"/>
          </p:nvPr>
        </p:nvSpPr>
        <p:spPr>
          <a:xfrm>
            <a:off x="1388806" y="2597048"/>
            <a:ext cx="2809568" cy="1325563"/>
          </a:xfrm>
        </p:spPr>
        <p:txBody>
          <a:bodyPr anchor="ctr">
            <a:normAutofit fontScale="90000"/>
          </a:bodyPr>
          <a:lstStyle/>
          <a:p>
            <a:r>
              <a:rPr lang="en-US" sz="3700" dirty="0"/>
              <a:t>Customer Churn Distribution Across Payment Methods</a:t>
            </a:r>
            <a:endParaRPr lang="en-IN" sz="3700" dirty="0"/>
          </a:p>
        </p:txBody>
      </p:sp>
      <p:sp>
        <p:nvSpPr>
          <p:cNvPr id="15" name="TextBox 14">
            <a:extLst>
              <a:ext uri="{FF2B5EF4-FFF2-40B4-BE49-F238E27FC236}">
                <a16:creationId xmlns:a16="http://schemas.microsoft.com/office/drawing/2014/main" id="{11F97E9B-4EFB-932E-374E-FE21554EA219}"/>
              </a:ext>
            </a:extLst>
          </p:cNvPr>
          <p:cNvSpPr txBox="1"/>
          <p:nvPr/>
        </p:nvSpPr>
        <p:spPr>
          <a:xfrm>
            <a:off x="6282836" y="4138167"/>
            <a:ext cx="5024501" cy="2354491"/>
          </a:xfrm>
          <a:prstGeom prst="rect">
            <a:avLst/>
          </a:prstGeom>
          <a:noFill/>
        </p:spPr>
        <p:txBody>
          <a:bodyPr wrap="square">
            <a:spAutoFit/>
          </a:bodyPr>
          <a:lstStyle/>
          <a:p>
            <a:r>
              <a:rPr lang="en-US" sz="1050" dirty="0"/>
              <a:t>The chart compares customer churn behavior across different payment methods.</a:t>
            </a:r>
          </a:p>
          <a:p>
            <a:r>
              <a:rPr lang="en-US" sz="1050" dirty="0"/>
              <a:t>Among customers using electronic check, a high number have churned (1071) compared to those retained (1294), indicating the highest churn among all payment methods. In contrast, customers using mailed check show lower churn (308 vs 1304 retained), while bank transfer (automatic) and credit card (automatic) have the lowest churn levels (258 and 232 respectively, with strong retention in both cases).</a:t>
            </a:r>
          </a:p>
          <a:p>
            <a:r>
              <a:rPr lang="en-US" sz="1050" dirty="0"/>
              <a:t>👉 Electronic check users show the highest churn, suggesting less stable or less satisfied customers.</a:t>
            </a:r>
            <a:br>
              <a:rPr lang="en-US" sz="1050" dirty="0"/>
            </a:br>
            <a:r>
              <a:rPr lang="en-US" sz="1050" dirty="0"/>
              <a:t>👉 Automatic payment methods (bank transfer and credit card) demonstrate significantly better retention and lower churn.</a:t>
            </a:r>
          </a:p>
          <a:p>
            <a:r>
              <a:rPr lang="en-US" sz="1050" b="1" dirty="0"/>
              <a:t>Key Insight</a:t>
            </a:r>
            <a:br>
              <a:rPr lang="en-US" sz="1050" dirty="0"/>
            </a:br>
            <a:r>
              <a:rPr lang="en-US" sz="1050" dirty="0"/>
              <a:t>Payment method plays an important role in churn—customers using automatic payment options are more likely to stay, while those using electronic checks are at a higher risk of churning.</a:t>
            </a:r>
          </a:p>
        </p:txBody>
      </p:sp>
      <p:pic>
        <p:nvPicPr>
          <p:cNvPr id="4" name="Picture 3">
            <a:extLst>
              <a:ext uri="{FF2B5EF4-FFF2-40B4-BE49-F238E27FC236}">
                <a16:creationId xmlns:a16="http://schemas.microsoft.com/office/drawing/2014/main" id="{D01D0937-D47D-43BF-9E81-AFAE5C723EBF}"/>
              </a:ext>
            </a:extLst>
          </p:cNvPr>
          <p:cNvPicPr>
            <a:picLocks noChangeAspect="1"/>
          </p:cNvPicPr>
          <p:nvPr/>
        </p:nvPicPr>
        <p:blipFill>
          <a:blip r:embed="rId3"/>
          <a:stretch>
            <a:fillRect/>
          </a:stretch>
        </p:blipFill>
        <p:spPr>
          <a:xfrm>
            <a:off x="6282836" y="445048"/>
            <a:ext cx="5133578" cy="3693119"/>
          </a:xfrm>
          <a:prstGeom prst="rect">
            <a:avLst/>
          </a:prstGeom>
        </p:spPr>
      </p:pic>
    </p:spTree>
    <p:extLst>
      <p:ext uri="{BB962C8B-B14F-4D97-AF65-F5344CB8AC3E}">
        <p14:creationId xmlns:p14="http://schemas.microsoft.com/office/powerpoint/2010/main" val="527595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FD85DB67-9735-A932-59A1-0B1F3E6CC776}"/>
              </a:ext>
            </a:extLst>
          </p:cNvPr>
          <p:cNvPicPr>
            <a:picLocks noChangeAspect="1"/>
          </p:cNvPicPr>
          <p:nvPr/>
        </p:nvPicPr>
        <p:blipFill>
          <a:blip r:embed="rId2">
            <a:extLst>
              <a:ext uri="{28A0092B-C50C-407E-A947-70E740481C1C}">
                <a14:useLocalDpi xmlns:a14="http://schemas.microsoft.com/office/drawing/2010/main" val="0"/>
              </a:ext>
            </a:extLst>
          </a:blip>
          <a:srcRect l="16022" r="12837" b="-1"/>
          <a:stretch>
            <a:fillRect/>
          </a:stretch>
        </p:blipFill>
        <p:spPr>
          <a:xfrm>
            <a:off x="4883022" y="10"/>
            <a:ext cx="7308978"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25" name="Freeform: Shape 24">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3EA8C1-6A9C-B043-5B09-C537EE1FAC26}"/>
              </a:ext>
            </a:extLst>
          </p:cNvPr>
          <p:cNvSpPr>
            <a:spLocks noGrp="1"/>
          </p:cNvSpPr>
          <p:nvPr>
            <p:ph type="title"/>
          </p:nvPr>
        </p:nvSpPr>
        <p:spPr>
          <a:xfrm>
            <a:off x="374904" y="856488"/>
            <a:ext cx="4992624" cy="1243584"/>
          </a:xfrm>
        </p:spPr>
        <p:txBody>
          <a:bodyPr anchor="ctr">
            <a:normAutofit/>
          </a:bodyPr>
          <a:lstStyle/>
          <a:p>
            <a:r>
              <a:rPr lang="en-IN" sz="3400" b="1"/>
              <a:t>Recommendations</a:t>
            </a:r>
            <a:br>
              <a:rPr lang="en-IN" sz="3400"/>
            </a:br>
            <a:endParaRPr lang="en-IN" sz="3400"/>
          </a:p>
        </p:txBody>
      </p:sp>
      <p:sp>
        <p:nvSpPr>
          <p:cNvPr id="29" name="Rectangle 28">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769" y="2195336"/>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Content Placeholder 8">
            <a:extLst>
              <a:ext uri="{FF2B5EF4-FFF2-40B4-BE49-F238E27FC236}">
                <a16:creationId xmlns:a16="http://schemas.microsoft.com/office/drawing/2014/main" id="{70C667F6-BE37-6A4B-5608-614919B24D26}"/>
              </a:ext>
            </a:extLst>
          </p:cNvPr>
          <p:cNvSpPr>
            <a:spLocks noGrp="1"/>
          </p:cNvSpPr>
          <p:nvPr>
            <p:ph idx="1"/>
          </p:nvPr>
        </p:nvSpPr>
        <p:spPr>
          <a:xfrm>
            <a:off x="374904" y="2522949"/>
            <a:ext cx="5065776" cy="3402363"/>
          </a:xfrm>
        </p:spPr>
        <p:txBody>
          <a:bodyPr anchor="t">
            <a:normAutofit/>
          </a:bodyPr>
          <a:lstStyle/>
          <a:p>
            <a:pPr lvl="0"/>
            <a:r>
              <a:rPr lang="en-IN" sz="1700" b="1"/>
              <a:t>🎯 Encourage long-term contracts through discounts or benefits </a:t>
            </a:r>
            <a:endParaRPr lang="en-IN" sz="1700"/>
          </a:p>
          <a:p>
            <a:pPr lvl="0"/>
            <a:r>
              <a:rPr lang="en-IN" sz="1700" b="1"/>
              <a:t>🔒 Bundle services like online security &amp; tech support </a:t>
            </a:r>
            <a:endParaRPr lang="en-IN" sz="1700"/>
          </a:p>
          <a:p>
            <a:pPr lvl="0"/>
            <a:r>
              <a:rPr lang="en-IN" sz="1700" b="1"/>
              <a:t>💳 Promote stable payment methods (auto-pay, credit cards) </a:t>
            </a:r>
            <a:endParaRPr lang="en-IN" sz="1700"/>
          </a:p>
          <a:p>
            <a:pPr lvl="0"/>
            <a:r>
              <a:rPr lang="en-IN" sz="1700" b="1"/>
              <a:t>📞 Improve onboarding experience for new customers </a:t>
            </a:r>
            <a:endParaRPr lang="en-IN" sz="1700"/>
          </a:p>
          <a:p>
            <a:pPr lvl="0"/>
            <a:r>
              <a:rPr lang="en-IN" sz="1700" b="1"/>
              <a:t>💰 Offer loyalty rewards for long-tenure customers </a:t>
            </a:r>
            <a:endParaRPr lang="en-IN" sz="1700"/>
          </a:p>
          <a:p>
            <a:pPr lvl="0"/>
            <a:r>
              <a:rPr lang="en-IN" sz="1700" b="1"/>
              <a:t>⚡ Review pricing strategy for high-cost plans </a:t>
            </a:r>
            <a:endParaRPr lang="en-IN" sz="1700"/>
          </a:p>
          <a:p>
            <a:endParaRPr lang="en-US" sz="1700"/>
          </a:p>
        </p:txBody>
      </p:sp>
    </p:spTree>
    <p:extLst>
      <p:ext uri="{BB962C8B-B14F-4D97-AF65-F5344CB8AC3E}">
        <p14:creationId xmlns:p14="http://schemas.microsoft.com/office/powerpoint/2010/main" val="202137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6CA9BB0-61B6-7F71-04C6-3E53BD748A02}"/>
              </a:ext>
            </a:extLst>
          </p:cNvPr>
          <p:cNvPicPr>
            <a:picLocks noChangeAspect="1"/>
          </p:cNvPicPr>
          <p:nvPr/>
        </p:nvPicPr>
        <p:blipFill>
          <a:blip r:embed="rId2">
            <a:extLst>
              <a:ext uri="{28A0092B-C50C-407E-A947-70E740481C1C}">
                <a14:useLocalDpi xmlns:a14="http://schemas.microsoft.com/office/drawing/2010/main" val="0"/>
              </a:ext>
            </a:extLst>
          </a:blip>
          <a:srcRect l="23848" r="5012" b="-1"/>
          <a:stretch>
            <a:fillRect/>
          </a:stretch>
        </p:blipFill>
        <p:spPr>
          <a:xfrm>
            <a:off x="5014126" y="10"/>
            <a:ext cx="7177873"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17" name="Freeform: Shape 16">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64FCA5-7802-9DAF-68F2-24FC990CB88A}"/>
              </a:ext>
            </a:extLst>
          </p:cNvPr>
          <p:cNvSpPr>
            <a:spLocks noGrp="1"/>
          </p:cNvSpPr>
          <p:nvPr>
            <p:ph type="title"/>
          </p:nvPr>
        </p:nvSpPr>
        <p:spPr>
          <a:xfrm>
            <a:off x="374904" y="856488"/>
            <a:ext cx="4992624" cy="1243584"/>
          </a:xfrm>
        </p:spPr>
        <p:txBody>
          <a:bodyPr anchor="ctr">
            <a:normAutofit/>
          </a:bodyPr>
          <a:lstStyle/>
          <a:p>
            <a:r>
              <a:rPr lang="en-IN" sz="3400" b="1"/>
              <a:t>Conclusion</a:t>
            </a:r>
            <a:endParaRPr lang="en-IN" sz="3400"/>
          </a:p>
        </p:txBody>
      </p:sp>
      <p:sp>
        <p:nvSpPr>
          <p:cNvPr id="16" name="Rectangle 15">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769" y="2195336"/>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BBA47DB-4E00-B671-1986-7B0C057CC5E1}"/>
              </a:ext>
            </a:extLst>
          </p:cNvPr>
          <p:cNvSpPr>
            <a:spLocks noGrp="1"/>
          </p:cNvSpPr>
          <p:nvPr>
            <p:ph idx="1"/>
          </p:nvPr>
        </p:nvSpPr>
        <p:spPr>
          <a:xfrm>
            <a:off x="374904" y="2522949"/>
            <a:ext cx="5065776" cy="3402363"/>
          </a:xfrm>
        </p:spPr>
        <p:txBody>
          <a:bodyPr anchor="t">
            <a:normAutofit/>
          </a:bodyPr>
          <a:lstStyle/>
          <a:p>
            <a:r>
              <a:rPr lang="en-IN" sz="2000" b="1"/>
              <a:t>The EDA reveals clear patterns behind customer churn, highlighting the importance of contract type, service usage, and payment behaviour.</a:t>
            </a:r>
          </a:p>
          <a:p>
            <a:pPr marL="0" indent="0">
              <a:buNone/>
            </a:pPr>
            <a:endParaRPr lang="en-IN" sz="2000"/>
          </a:p>
          <a:p>
            <a:r>
              <a:rPr lang="en-IN" sz="2000" b="1"/>
              <a:t>By implementing targeted strategies such as improving service bundles, optimizing pricing, and enhancing customer experience, the company can significantly reduce churn and improve customer retention.</a:t>
            </a:r>
            <a:endParaRPr lang="en-IN" sz="2000"/>
          </a:p>
          <a:p>
            <a:endParaRPr lang="en-IN" sz="2000"/>
          </a:p>
        </p:txBody>
      </p:sp>
    </p:spTree>
    <p:extLst>
      <p:ext uri="{BB962C8B-B14F-4D97-AF65-F5344CB8AC3E}">
        <p14:creationId xmlns:p14="http://schemas.microsoft.com/office/powerpoint/2010/main" val="1375010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1158</Words>
  <Application>Microsoft Office PowerPoint</Application>
  <PresentationFormat>Widescreen</PresentationFormat>
  <Paragraphs>74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ADLaM Display</vt:lpstr>
      <vt:lpstr>Aptos</vt:lpstr>
      <vt:lpstr>Aptos Display</vt:lpstr>
      <vt:lpstr>Arial</vt:lpstr>
      <vt:lpstr>Calibri</vt:lpstr>
      <vt:lpstr>Segoe UI Emoji</vt:lpstr>
      <vt:lpstr>Office Theme</vt:lpstr>
      <vt:lpstr>PowerPoint Presentation</vt:lpstr>
      <vt:lpstr>PowerPoint Presentation</vt:lpstr>
      <vt:lpstr>PowerPoint Presentation</vt:lpstr>
      <vt:lpstr>Business  Problem Statement</vt:lpstr>
      <vt:lpstr>Customer Distribution by Churn Status</vt:lpstr>
      <vt:lpstr>Customer Churn Distribution (%)</vt:lpstr>
      <vt:lpstr>Customer Churn Distribution by Gender</vt:lpstr>
      <vt:lpstr>Customer Distribution by Senior Citizen Status</vt:lpstr>
      <vt:lpstr>Churn by Senior Citizen </vt:lpstr>
      <vt:lpstr>Distribution of Customer Tenure by Churn Status</vt:lpstr>
      <vt:lpstr>Customer Distribution by Contract Type and Churn Status</vt:lpstr>
      <vt:lpstr>PowerPoint Presentation</vt:lpstr>
      <vt:lpstr>PowerPoint Presentation</vt:lpstr>
      <vt:lpstr>Customer Churn Distribution Across Payment Methods</vt:lpstr>
      <vt:lpstr>Recommendations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Souvik Dasgupta</dc:creator>
  <cp:lastModifiedBy>Souvik Dasgupta</cp:lastModifiedBy>
  <cp:revision>3</cp:revision>
  <dcterms:created xsi:type="dcterms:W3CDTF">2026-04-09T18:32:47Z</dcterms:created>
  <dcterms:modified xsi:type="dcterms:W3CDTF">2026-04-11T01:46:54Z</dcterms:modified>
</cp:coreProperties>
</file>